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42" r:id="rId5"/>
    <p:sldId id="375" r:id="rId6"/>
    <p:sldId id="382" r:id="rId7"/>
    <p:sldId id="383" r:id="rId8"/>
    <p:sldId id="377" r:id="rId9"/>
    <p:sldId id="385" r:id="rId10"/>
    <p:sldId id="384" r:id="rId11"/>
    <p:sldId id="376" r:id="rId12"/>
    <p:sldId id="386" r:id="rId13"/>
    <p:sldId id="378" r:id="rId14"/>
    <p:sldId id="387" r:id="rId15"/>
    <p:sldId id="388" r:id="rId16"/>
    <p:sldId id="389" r:id="rId17"/>
    <p:sldId id="391" r:id="rId18"/>
    <p:sldId id="390" r:id="rId19"/>
    <p:sldId id="3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9" d="100"/>
          <a:sy n="79" d="100"/>
        </p:scale>
        <p:origin x="850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A466-587C-7463-B98F-6C7C8BFD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29118-A1A8-8489-F30C-7BB1B3921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DFCE9-4A01-517C-6E39-034D80F5A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711C0-515C-3D84-45B0-C2CA643BA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789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1DA36-F053-7F74-3599-DAABB56A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D85AC-F6C5-E993-6E10-DDF996BCF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E3255-DDD5-AC94-380C-BEF9E61B8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C1286-4736-1937-602B-791A2D574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062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68E2B-7AA5-F5EA-618F-E8C7FB694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5F52E-2CD1-100F-55F4-DC5D59FB9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0F841-201B-1BD4-E91C-E5CB5D48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E4498-513C-4650-7FA6-34BB60ACB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137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DA619-7A43-D617-76AE-3DC1DB62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26FBE-AEF6-E440-9F06-7011029FB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04A4F-DB2E-D0D5-D79C-E1F6A5258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7D8CE-8A09-42E3-A559-C1B772543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737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C0E2C-52F6-5D62-E7F0-E1758DD5B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73EDD-F97A-26E4-E26D-B0411BBB3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E479E-BA27-F917-E9B6-929DD1462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3C345-5247-D044-A085-315A28523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956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56106-0E5F-F630-760F-CE7462675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6C854-D53A-7C55-D33F-08C67C9FF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AE391-1790-2C02-50EA-36093ADED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3B4B1-4C28-7F08-97B1-31D89501D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2278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87B2D-661C-59FE-DA3C-6BBBD0043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270D7-AF44-3160-B954-C89E2F4A2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C4430-FEA7-2CA8-199E-4200430C3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163CA-9B0A-DB14-6957-7FA84E085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364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67302-DB5C-62F3-2263-2BE22937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E5419-05C1-58A8-7D43-241260AED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138A0-3F19-BA82-8713-62B937D06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EFE2B-250B-2C27-26E3-A7241EA7E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932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62F5F-3E5C-F18A-F46C-987946B68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4F5B7-E56A-0435-C6AC-CCFC5DEC2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F9D13-FDEF-D966-8DE8-DFF3D4CEE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7959C-EFEB-6EAD-B9EA-6E295124B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996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CCE56-F05D-A2CD-1A29-34FFB3F5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B9DB0-B28E-8521-49BF-81EFBDFA8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99946-432D-BE1F-AE19-60A4A5C3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2ADAF-AC5C-B4AA-53F1-765F9D4C3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632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sz="4000" b="1" dirty="0"/>
              <a:t>Unveiling Shared Molecular Pathways Between COVID-19 and Alzheimer’s Disease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sz="2000" dirty="0"/>
              <a:t>Cbio311/cbio310</a:t>
            </a:r>
          </a:p>
          <a:p>
            <a:r>
              <a:rPr lang="en-US" sz="2000" dirty="0"/>
              <a:t>Dr. Mohamed </a:t>
            </a:r>
            <a:r>
              <a:rPr lang="en-US" sz="2000" dirty="0" err="1"/>
              <a:t>el-sayeh</a:t>
            </a:r>
            <a:endParaRPr lang="en-US" sz="2000" dirty="0"/>
          </a:p>
          <a:p>
            <a:endParaRPr lang="en-US" sz="2000" dirty="0"/>
          </a:p>
          <a:p>
            <a:r>
              <a:rPr lang="en-US" sz="1600" b="1" dirty="0"/>
              <a:t>Team: </a:t>
            </a:r>
            <a:r>
              <a:rPr lang="en-US" sz="1600" b="1" dirty="0" err="1"/>
              <a:t>sama</a:t>
            </a:r>
            <a:r>
              <a:rPr lang="en-US" sz="1600" b="1" dirty="0"/>
              <a:t> </a:t>
            </a:r>
            <a:r>
              <a:rPr lang="en-US" sz="1600" b="1" dirty="0" err="1"/>
              <a:t>saeed</a:t>
            </a:r>
            <a:r>
              <a:rPr lang="en-US" sz="1600" b="1" dirty="0"/>
              <a:t>, Abdallah Mohamed,</a:t>
            </a:r>
          </a:p>
          <a:p>
            <a:r>
              <a:rPr lang="en-US" sz="1600" b="1" dirty="0"/>
              <a:t> Malak </a:t>
            </a:r>
            <a:r>
              <a:rPr lang="en-US" sz="1600" b="1" dirty="0" err="1"/>
              <a:t>reda</a:t>
            </a:r>
            <a:r>
              <a:rPr lang="en-US" sz="1600" b="1" dirty="0"/>
              <a:t>, Haneen Mohamed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sz="6000" b="1" dirty="0"/>
              <a:t>Background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4121173"/>
          </a:xfrm>
        </p:spPr>
        <p:txBody>
          <a:bodyPr/>
          <a:lstStyle/>
          <a:p>
            <a:r>
              <a:rPr lang="en-US" sz="2000" b="1" dirty="0">
                <a:latin typeface="Aptos" panose="020B0004020202020204" pitchFamily="34" charset="0"/>
              </a:rPr>
              <a:t>Why this project?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COVID-19 has neurological effects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Alzheimer’s is a neurodegenerative disease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Similar symptoms have been observed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Possible shared molecular pathways</a:t>
            </a:r>
          </a:p>
          <a:p>
            <a:endParaRPr lang="en-US" sz="2000" b="1" dirty="0">
              <a:latin typeface="Aptos" panose="020B0004020202020204" pitchFamily="34" charset="0"/>
            </a:endParaRPr>
          </a:p>
          <a:p>
            <a:r>
              <a:rPr lang="en-US" sz="2000" b="1" dirty="0" err="1">
                <a:latin typeface="Aptos" panose="020B0004020202020204" pitchFamily="34" charset="0"/>
              </a:rPr>
              <a:t>Goal:Understanding</a:t>
            </a:r>
            <a:r>
              <a:rPr lang="en-US" sz="2000" b="1" dirty="0">
                <a:latin typeface="Aptos" panose="020B0004020202020204" pitchFamily="34" charset="0"/>
              </a:rPr>
              <a:t> shared molecular mechanisms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D330F-07FC-EC3A-5580-7F310277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DA06E-B0F4-0324-1753-AFA85FAB7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sz="6000" b="1" dirty="0"/>
              <a:t>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32694-D4BC-8ABA-DBEC-B775661E8334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sz="2000" b="1" dirty="0">
                <a:latin typeface="Aptos" panose="020B0004020202020204" pitchFamily="34" charset="0"/>
              </a:rPr>
              <a:t>Project Aims:	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Identify shared differentially expressed genes (DEGs)	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Analyze common biological pathways	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Understand long-term neurological effects of COVID-19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1F5433-2CF9-4330-FF4E-5D05C9B3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24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EDDA3-E135-2EC4-2B0B-A8033838D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D296A-26E7-8AD5-0D3A-BD3D8A42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sz="4800" b="1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F1D89-8F4D-CCBD-7088-472222F6C2F6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7792213" cy="372375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Datasets Used:	</a:t>
            </a:r>
          </a:p>
          <a:p>
            <a:pPr marL="0" indent="0">
              <a:buNone/>
            </a:pPr>
            <a:r>
              <a:rPr lang="en-US" sz="2000" b="1" dirty="0"/>
              <a:t>• COVID-19: GSE164332</a:t>
            </a:r>
          </a:p>
          <a:p>
            <a:pPr marL="0" indent="0">
              <a:buNone/>
            </a:pPr>
            <a:r>
              <a:rPr lang="en-US" sz="2000" b="1" dirty="0"/>
              <a:t>• Alzheimer’s disease: GSE122063	</a:t>
            </a:r>
          </a:p>
          <a:p>
            <a:pPr marL="0" indent="0">
              <a:buNone/>
            </a:pPr>
            <a:r>
              <a:rPr lang="en-US" sz="2000" b="1" dirty="0"/>
              <a:t>• Source: GEO Database</a:t>
            </a:r>
          </a:p>
          <a:p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Data Type: RNA sequencing (RNA-seq)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C989E-B615-D7F3-0AF9-2B0CB9AA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55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sz="4400" b="1" dirty="0"/>
              <a:t>Methodology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7685209" cy="2437201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Workflow:</a:t>
            </a:r>
          </a:p>
          <a:p>
            <a:r>
              <a:rPr lang="en-US" sz="2000" b="1" dirty="0"/>
              <a:t>Differential gene expression analysis	</a:t>
            </a:r>
          </a:p>
          <a:p>
            <a:r>
              <a:rPr lang="en-US" sz="2000" b="1" dirty="0"/>
              <a:t>Data integration	</a:t>
            </a:r>
          </a:p>
          <a:p>
            <a:r>
              <a:rPr lang="en-US" sz="2000" b="1" dirty="0"/>
              <a:t>Data visualization	</a:t>
            </a:r>
          </a:p>
          <a:p>
            <a:r>
              <a:rPr lang="en-US" sz="2000" b="1" dirty="0"/>
              <a:t>GSEA and pathway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336A-3CB3-A8E3-A8B0-61819F90A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008D-9624-F919-9F96-58507245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sz="4400" b="1" dirty="0"/>
              <a:t>Differential Expression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145AB-87CE-31A1-912E-0D8E6CF979C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DEG Selection Criteria: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|log2 Fold Change| ≥ 1.1	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Adjusted p-value &lt; 0.05	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Upregulated genes	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Downregulated genes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6C672E-60C6-2FEF-54D1-2DE860F10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54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FE71D-2B96-EA10-26B0-C462495A8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F2403-1705-558A-6A57-D22AA775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sz="6000" b="1" dirty="0"/>
              <a:t>Visualization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29044-B9C4-4FB4-D77C-A720DC176F97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Plots Used:	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Volcano plot	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Heatmap</a:t>
            </a:r>
          </a:p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Purpose: 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To visualize gene expression patterns and statistical significance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96BD8-1FA7-6874-A77F-62208BCF2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72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sz="4000" b="1" dirty="0"/>
              <a:t>Key Upregulated Genes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1" y="2474812"/>
            <a:ext cx="7558939" cy="2476568"/>
          </a:xfrm>
        </p:spPr>
        <p:txBody>
          <a:bodyPr/>
          <a:lstStyle/>
          <a:p>
            <a:r>
              <a:rPr lang="en-US" sz="2000" b="1" dirty="0"/>
              <a:t>Important Genes:</a:t>
            </a:r>
          </a:p>
          <a:p>
            <a:r>
              <a:rPr lang="en-US" sz="2000" b="1" dirty="0"/>
              <a:t>•  NFE2L1 → oxidative stress response	</a:t>
            </a:r>
          </a:p>
          <a:p>
            <a:r>
              <a:rPr lang="en-US" sz="2000" b="1" dirty="0"/>
              <a:t>•  BACH1 → transcription regulation</a:t>
            </a:r>
          </a:p>
          <a:p>
            <a:r>
              <a:rPr lang="en-US" sz="2000" b="1" dirty="0"/>
              <a:t>•  PDP2 → mitochondrial metabolism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E2CAA-D5BB-3689-C7E1-172203E4A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1658-934D-E45E-C940-39218235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sz="4400" b="1" dirty="0"/>
              <a:t>Key Downregulated Genes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BB53C-E484-3BC9-66F0-1A1AFC05B7A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7685209" cy="2437201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•  </a:t>
            </a:r>
            <a:r>
              <a:rPr lang="en-US" sz="2400" b="1" dirty="0"/>
              <a:t>PHPT1 → cell signaling	</a:t>
            </a:r>
          </a:p>
          <a:p>
            <a:pPr marL="0" indent="0">
              <a:buNone/>
            </a:pPr>
            <a:r>
              <a:rPr lang="en-US" sz="2400" b="1" dirty="0"/>
              <a:t>•  INTS3 → DNA repair</a:t>
            </a:r>
          </a:p>
          <a:p>
            <a:pPr marL="0" indent="0">
              <a:buNone/>
            </a:pPr>
            <a:r>
              <a:rPr lang="en-US" sz="2400" b="1" dirty="0"/>
              <a:t>Indicates:</a:t>
            </a:r>
          </a:p>
          <a:p>
            <a:pPr marL="0" indent="0">
              <a:buNone/>
            </a:pPr>
            <a:r>
              <a:rPr lang="en-US" sz="2400" b="1" dirty="0"/>
              <a:t>Reduced neuronal protection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AB3C6-27DE-FEA2-0657-881D75BE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932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077" y="325460"/>
            <a:ext cx="5302373" cy="2203704"/>
          </a:xfrm>
        </p:spPr>
        <p:txBody>
          <a:bodyPr/>
          <a:lstStyle/>
          <a:p>
            <a:pPr lvl="0"/>
            <a:r>
              <a:rPr lang="en-US" sz="3600" b="1" dirty="0"/>
              <a:t>Pathway Analysis</a:t>
            </a:r>
            <a:endParaRPr lang="en-US" sz="3600" b="1" noProof="0" dirty="0"/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581798" y="2948635"/>
            <a:ext cx="5302373" cy="3642688"/>
          </a:xfrm>
        </p:spPr>
        <p:txBody>
          <a:bodyPr/>
          <a:lstStyle/>
          <a:p>
            <a:r>
              <a:rPr lang="en-US" sz="2000" b="1" dirty="0"/>
              <a:t>Enrichment Analysis (GSEA)	</a:t>
            </a:r>
          </a:p>
          <a:p>
            <a:r>
              <a:rPr lang="en-US" sz="2000" b="1" dirty="0"/>
              <a:t>• KEGG pathways	</a:t>
            </a:r>
          </a:p>
          <a:p>
            <a:r>
              <a:rPr lang="en-US" sz="2000" b="1" dirty="0"/>
              <a:t>• </a:t>
            </a:r>
            <a:r>
              <a:rPr lang="en-US" sz="2000" b="1" dirty="0" err="1"/>
              <a:t>clusterProfiler</a:t>
            </a:r>
            <a:r>
              <a:rPr lang="en-US" sz="2000" b="1" dirty="0"/>
              <a:t>	</a:t>
            </a:r>
          </a:p>
          <a:p>
            <a:r>
              <a:rPr lang="en-US" sz="2000" b="1" dirty="0"/>
              <a:t>• </a:t>
            </a:r>
            <a:r>
              <a:rPr lang="en-US" sz="2000" b="1" dirty="0" err="1"/>
              <a:t>Pathview</a:t>
            </a:r>
            <a:r>
              <a:rPr lang="en-US" sz="2000" b="1" dirty="0"/>
              <a:t> visualization</a:t>
            </a:r>
          </a:p>
          <a:p>
            <a:r>
              <a:rPr lang="en-US" sz="2000" b="1" dirty="0"/>
              <a:t>Purpose:</a:t>
            </a:r>
          </a:p>
          <a:p>
            <a:r>
              <a:rPr lang="en-US" sz="2000" b="1" dirty="0"/>
              <a:t>Understanding biological processes rather than individual genes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2B33-1A40-1B79-9FE5-3BD186E2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48B8-620C-C4A9-D3E8-46A535E84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078" y="325460"/>
            <a:ext cx="5752412" cy="2203704"/>
          </a:xfrm>
        </p:spPr>
        <p:txBody>
          <a:bodyPr/>
          <a:lstStyle/>
          <a:p>
            <a:pPr lvl="0"/>
            <a:r>
              <a:rPr lang="en-US" sz="4000" b="1" dirty="0"/>
              <a:t>Upregulated Pathways</a:t>
            </a:r>
            <a:endParaRPr lang="en-US" sz="4000" noProof="0" dirty="0"/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21E53688-62C1-9BCE-AD4F-8DE5A534E7FC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5694B-08BA-3422-5DFF-EF3738FA64E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581798" y="2774692"/>
            <a:ext cx="5302373" cy="4279016"/>
          </a:xfrm>
        </p:spPr>
        <p:txBody>
          <a:bodyPr/>
          <a:lstStyle/>
          <a:p>
            <a:r>
              <a:rPr lang="en-US" sz="2000" b="1" dirty="0"/>
              <a:t>• Endocytosis	</a:t>
            </a:r>
          </a:p>
          <a:p>
            <a:r>
              <a:rPr lang="en-US" sz="2000" b="1" dirty="0"/>
              <a:t>• Hippo signaling	</a:t>
            </a:r>
          </a:p>
          <a:p>
            <a:r>
              <a:rPr lang="en-US" sz="2000" b="1" dirty="0"/>
              <a:t>• Apoptosis</a:t>
            </a:r>
          </a:p>
          <a:p>
            <a:r>
              <a:rPr lang="en-US" sz="2000" b="1" dirty="0"/>
              <a:t>Associated with:	</a:t>
            </a:r>
          </a:p>
          <a:p>
            <a:r>
              <a:rPr lang="en-US" sz="2000" b="1" dirty="0"/>
              <a:t>• Viral entry	</a:t>
            </a:r>
          </a:p>
          <a:p>
            <a:r>
              <a:rPr lang="en-US" sz="2000" b="1" dirty="0"/>
              <a:t>• Cell death	</a:t>
            </a:r>
          </a:p>
          <a:p>
            <a:r>
              <a:rPr lang="en-US" sz="2000" b="1" dirty="0"/>
              <a:t>• Cellular stress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23B7B-4512-9DAE-12F6-88909AFA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41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8AD9C-FF8D-FF8C-0E68-D8B3C97BC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3EE7B-2595-DE6A-7E4A-CF693A8D4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sz="4400" b="1" dirty="0"/>
              <a:t>Downregulated Pathways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714AB-EC3F-D87C-849C-B087AE70C13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7685209" cy="346833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• Oxidative phosphorylation	</a:t>
            </a:r>
          </a:p>
          <a:p>
            <a:pPr marL="0" indent="0">
              <a:buNone/>
            </a:pPr>
            <a:r>
              <a:rPr lang="en-US" sz="2000" b="1" dirty="0"/>
              <a:t>• Alzheimer’s disease pathway	</a:t>
            </a:r>
          </a:p>
          <a:p>
            <a:pPr marL="0" indent="0">
              <a:buNone/>
            </a:pPr>
            <a:r>
              <a:rPr lang="en-US" sz="2000" b="1" dirty="0"/>
              <a:t>• Parkinson’s disease and ALS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Associated with:	</a:t>
            </a:r>
          </a:p>
          <a:p>
            <a:pPr marL="0" indent="0">
              <a:buNone/>
            </a:pPr>
            <a:r>
              <a:rPr lang="en-US" sz="2000" b="1" dirty="0"/>
              <a:t>• Mitochondrial dysfunction	</a:t>
            </a:r>
          </a:p>
          <a:p>
            <a:pPr marL="0" indent="0">
              <a:buNone/>
            </a:pPr>
            <a:r>
              <a:rPr lang="en-US" sz="2000" b="1" dirty="0"/>
              <a:t>• Neurodegeneration</a:t>
            </a:r>
            <a:endParaRPr lang="en-US" sz="2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498C6-D784-17EF-CD35-229F65093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60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B569D-D540-F20B-16FF-50CACE34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1F89F-D08F-36DA-E42F-E99257EE1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sz="4400" b="1" dirty="0"/>
              <a:t>Biological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82349-B363-1D8C-3977-94DA47098BA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7685209" cy="346833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Link Between COVID-19 and Alzheimer’s Disease	</a:t>
            </a:r>
          </a:p>
          <a:p>
            <a:pPr marL="0" indent="0">
              <a:buNone/>
            </a:pPr>
            <a:r>
              <a:rPr lang="en-US" sz="2000" b="1" dirty="0"/>
              <a:t>• Chronic inflammation	</a:t>
            </a:r>
          </a:p>
          <a:p>
            <a:pPr marL="0" indent="0">
              <a:buNone/>
            </a:pPr>
            <a:r>
              <a:rPr lang="en-US" sz="2000" b="1" dirty="0"/>
              <a:t>• Oxidative stress	</a:t>
            </a:r>
          </a:p>
          <a:p>
            <a:pPr marL="0" indent="0">
              <a:buNone/>
            </a:pPr>
            <a:r>
              <a:rPr lang="en-US" sz="2000" b="1" dirty="0"/>
              <a:t>• Mitochondrial failure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COVID-19 may accelerate neurodegenerative processes</a:t>
            </a:r>
            <a:endParaRPr lang="en-US" sz="2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C3486-0724-564C-84DE-2EB290C8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66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1C402-22A2-6BD4-01E0-5E4923495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B3EA4-5AAD-031E-97EE-91BE27302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sz="54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F8BC-B466-9449-56EF-4702DF684FC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1" y="2474812"/>
            <a:ext cx="7558939" cy="2476568"/>
          </a:xfrm>
        </p:spPr>
        <p:txBody>
          <a:bodyPr/>
          <a:lstStyle/>
          <a:p>
            <a:r>
              <a:rPr lang="en-US" sz="2400" b="1" dirty="0"/>
              <a:t>• Shared molecular mechanisms were identified</a:t>
            </a:r>
          </a:p>
          <a:p>
            <a:r>
              <a:rPr lang="en-US" sz="2400" b="1" dirty="0"/>
              <a:t>• COVID-19 may have long-term neurological effects	</a:t>
            </a:r>
          </a:p>
          <a:p>
            <a:r>
              <a:rPr lang="en-US" sz="2400" b="1" dirty="0"/>
              <a:t>• Findings support further research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D5D91-8AF7-4983-273B-9BC2A7F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758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45B69-46A1-1314-18ED-FB23846A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F8D7-917D-CF8D-CF33-531B5DB7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sz="4000" b="1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DC23E-787B-EB60-3298-8B2F1B107D6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1" y="2474812"/>
            <a:ext cx="7558939" cy="2476568"/>
          </a:xfrm>
        </p:spPr>
        <p:txBody>
          <a:bodyPr/>
          <a:lstStyle/>
          <a:p>
            <a:r>
              <a:rPr lang="en-US" sz="2800" b="1" dirty="0"/>
              <a:t>• Experimental validation</a:t>
            </a:r>
          </a:p>
          <a:p>
            <a:r>
              <a:rPr lang="en-US" sz="2800" b="1" dirty="0"/>
              <a:t>• Larger datasets</a:t>
            </a:r>
          </a:p>
          <a:p>
            <a:r>
              <a:rPr lang="en-US" sz="2800" b="1" dirty="0"/>
              <a:t>• Potential therapeutic targets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6147C-0F61-1E39-85D6-C224E5E1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057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{312CA427-E942-44A0-B330-844B391A4395}TFe8699e8e-689b-4d7e-abcf-e888fd749829db3118dc_win32-d573b439b56f</Template>
  <TotalTime>69</TotalTime>
  <Words>386</Words>
  <Application>Microsoft Office PowerPoint</Application>
  <PresentationFormat>Widescreen</PresentationFormat>
  <Paragraphs>123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Arial Nova</vt:lpstr>
      <vt:lpstr>Biome</vt:lpstr>
      <vt:lpstr>Calibri</vt:lpstr>
      <vt:lpstr>Custom</vt:lpstr>
      <vt:lpstr>Unveiling Shared Molecular Pathways Between COVID-19 and Alzheimer’s Disease</vt:lpstr>
      <vt:lpstr>Background</vt:lpstr>
      <vt:lpstr>Objectives</vt:lpstr>
      <vt:lpstr>Data Sources</vt:lpstr>
      <vt:lpstr>Methodology Overview</vt:lpstr>
      <vt:lpstr>Differential Expression Analysis</vt:lpstr>
      <vt:lpstr>Visualization</vt:lpstr>
      <vt:lpstr>Key Upregulated Genes</vt:lpstr>
      <vt:lpstr>Key Downregulated Genes</vt:lpstr>
      <vt:lpstr>Pathway Analysis</vt:lpstr>
      <vt:lpstr>Upregulated Pathways</vt:lpstr>
      <vt:lpstr>Downregulated Pathways</vt:lpstr>
      <vt:lpstr>Biological Interpretation</vt:lpstr>
      <vt:lpstr>Conclusion</vt:lpstr>
      <vt:lpstr>Future Directions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Malak Reda abdelghani</dc:creator>
  <cp:lastModifiedBy>Malak Reda abdelghani</cp:lastModifiedBy>
  <cp:revision>1</cp:revision>
  <dcterms:created xsi:type="dcterms:W3CDTF">2026-01-17T18:54:02Z</dcterms:created>
  <dcterms:modified xsi:type="dcterms:W3CDTF">2026-01-17T20:03:35Z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