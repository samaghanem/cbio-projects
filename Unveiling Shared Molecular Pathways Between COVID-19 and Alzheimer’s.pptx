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1"/>
  </p:notesMasterIdLst>
  <p:handoutMasterIdLst>
    <p:handoutMasterId r:id="rId22"/>
  </p:handoutMasterIdLst>
  <p:sldIdLst>
    <p:sldId id="342" r:id="rId5"/>
    <p:sldId id="375" r:id="rId6"/>
    <p:sldId id="382" r:id="rId7"/>
    <p:sldId id="383" r:id="rId8"/>
    <p:sldId id="377" r:id="rId9"/>
    <p:sldId id="385" r:id="rId10"/>
    <p:sldId id="384" r:id="rId11"/>
    <p:sldId id="376" r:id="rId12"/>
    <p:sldId id="386" r:id="rId13"/>
    <p:sldId id="378" r:id="rId14"/>
    <p:sldId id="387" r:id="rId15"/>
    <p:sldId id="388" r:id="rId16"/>
    <p:sldId id="389" r:id="rId17"/>
    <p:sldId id="391" r:id="rId18"/>
    <p:sldId id="390" r:id="rId19"/>
    <p:sldId id="372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3FBFE"/>
    <a:srgbClr val="000000"/>
    <a:srgbClr val="FFFFFF"/>
    <a:srgbClr val="05202E"/>
    <a:srgbClr val="05152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10A1B5D5-9B99-4C35-A422-299274C87663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388" autoAdjust="0"/>
  </p:normalViewPr>
  <p:slideViewPr>
    <p:cSldViewPr snapToGrid="0" snapToObjects="1" showGuides="1">
      <p:cViewPr varScale="1">
        <p:scale>
          <a:sx n="79" d="100"/>
          <a:sy n="79" d="100"/>
        </p:scale>
        <p:origin x="850" y="77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67" d="100"/>
          <a:sy n="67" d="100"/>
        </p:scale>
        <p:origin x="312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handoutMaster" Target="handoutMasters/handoutMaster1.xml"/><Relationship Id="rId27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4459878-C319-6BF3-52DC-16FA4340A6C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82FA7FC-DFAE-8499-5A3E-AD9648D7FCA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8BFD57-AB0A-470B-A7AF-56DFE7B5174A}" type="datetimeFigureOut">
              <a:rPr lang="en-US" smtClean="0"/>
              <a:t>1/17/2026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9C12BB-9544-9F9A-BEDA-E7168643859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1E77E4-B9A2-A882-9240-3AE65EE2176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9D61A1-75D9-49F7-83EB-F587264261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7327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B3339F-6CEA-4641-BE08-40DAFD6FCF25}" type="datetimeFigureOut">
              <a:rPr lang="en-US" smtClean="0"/>
              <a:t>1/17/2026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F75CB5-5666-5049-9AE0-38EFD385C21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55626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59997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5224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F5A466-587C-7463-B98F-6C7C8BFD9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F29118-A1A8-8489-F30C-7BB1B3921F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FDFCE9-4A01-517C-6E39-034D80F5AA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4711C0-515C-3D84-45B0-C2CA643BAF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37892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1DA36-F053-7F74-3599-DAABB56AF6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1D85AC-F6C5-E993-6E10-DDF996BCFA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BE3255-DDD5-AC94-380C-BEF9E61B88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FC1286-4736-1937-602B-791A2D574A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00620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24872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68E2B-7AA5-F5EA-618F-E8C7FB694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B5F52E-2CD1-100F-55F4-DC5D59FB9B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90F841-201B-1BD4-E91C-E5CB5D48F2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8E4498-513C-4650-7FA6-34BB60ACB3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61374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DA619-7A43-D617-76AE-3DC1DB62C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426FBE-AEF6-E440-9F06-7011029FB9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A04A4F-DB2E-D0D5-D79C-E1F6A52582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B7D8CE-8A09-42E3-A559-C1B772543F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97370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302908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C0E2C-52F6-5D62-E7F0-E1758DD5B3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A73EDD-F97A-26E4-E26D-B0411BBB32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5E479E-BA27-F917-E9B6-929DD1462C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53C345-5247-D044-A085-315A285231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995672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512558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A56106-0E5F-F630-760F-CE7462675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06C854-D53A-7C55-D33F-08C67C9FFA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1AE391-1790-2C02-50EA-36093ADED3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93B4B1-4C28-7F08-97B1-31D89501D3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222787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87B2D-661C-59FE-DA3C-6BBBD0043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2270D7-AF44-3160-B954-C89E2F4A2C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0C4430-FEA7-2CA8-199E-4200430C30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B163CA-9B0A-DB14-6957-7FA84E0858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636430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367302-DB5C-62F3-2263-2BE229374D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BE5419-05C1-58A8-7D43-241260AED9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6138A0-3F19-BA82-8713-62B937D065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6EFE2B-250B-2C27-26E3-A7241EA7E5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9326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662F5F-3E5C-F18A-F46C-987946B68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74F5B7-E56A-0435-C6AC-CCFC5DEC2A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8F9D13-FDEF-D966-8DE8-DFF3D4CEEB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27959C-EFEB-6EAD-B9EA-6E295124B2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599667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6CCE56-F05D-A2CD-1A29-34FFB3F5D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0B9DB0-B28E-8521-49BF-81EFBDFA8E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F99946-432D-BE1F-AE19-60A4A5C34C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72ADAF-AC5C-B4AA-53F1-765F9D4C38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063212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78901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bg>
      <p:bgPr>
        <a:gradFill>
          <a:gsLst>
            <a:gs pos="93000">
              <a:schemeClr val="tx2"/>
            </a:gs>
            <a:gs pos="81000">
              <a:schemeClr val="accent6">
                <a:lumMod val="50000"/>
              </a:schemeClr>
            </a:gs>
            <a:gs pos="27000">
              <a:schemeClr val="tx1"/>
            </a:gs>
            <a:gs pos="8000">
              <a:schemeClr val="accent4">
                <a:lumMod val="75000"/>
              </a:schemeClr>
            </a:gs>
            <a:gs pos="0">
              <a:schemeClr val="accent4"/>
            </a:gs>
            <a:gs pos="99000">
              <a:schemeClr val="tx2">
                <a:lumMod val="40000"/>
                <a:lumOff val="60000"/>
              </a:schemeClr>
            </a:gs>
          </a:gsLst>
          <a:lin ang="12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1BA6450-E291-DC40-F198-C02B485137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" y="1"/>
            <a:ext cx="12192003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A462FF1-D97D-8505-FE7F-8B2DB411A8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304799"/>
            <a:ext cx="12191998" cy="3215641"/>
          </a:xfrm>
        </p:spPr>
        <p:txBody>
          <a:bodyPr lIns="0" rIns="0" bIns="0" anchor="b" anchorCtr="0">
            <a:noAutofit/>
          </a:bodyPr>
          <a:lstStyle>
            <a:lvl1pPr algn="ctr">
              <a:defRPr sz="6000" kern="1200" cap="all" spc="30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58B9CAE2-F3DD-D6D3-96C8-D947A411775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" y="3670628"/>
            <a:ext cx="12191997" cy="2577772"/>
          </a:xfrm>
        </p:spPr>
        <p:txBody>
          <a:bodyPr>
            <a:noAutofit/>
          </a:bodyPr>
          <a:lstStyle>
            <a:lvl1pPr marL="0" indent="0" algn="ctr">
              <a:buNone/>
              <a:defRPr sz="3200" b="0" i="0" cap="all" spc="600" baseline="0">
                <a:solidFill>
                  <a:schemeClr val="accent3"/>
                </a:solidFill>
                <a:latin typeface="+mj-lt"/>
                <a:cs typeface="Biome Light" panose="020B03030302040208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41193215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gradFill>
          <a:gsLst>
            <a:gs pos="93000">
              <a:schemeClr val="tx2"/>
            </a:gs>
            <a:gs pos="81000">
              <a:schemeClr val="accent6">
                <a:lumMod val="50000"/>
              </a:schemeClr>
            </a:gs>
            <a:gs pos="27000">
              <a:schemeClr val="tx1"/>
            </a:gs>
            <a:gs pos="8000">
              <a:schemeClr val="accent4">
                <a:lumMod val="75000"/>
              </a:schemeClr>
            </a:gs>
            <a:gs pos="0">
              <a:schemeClr val="accent4"/>
            </a:gs>
            <a:gs pos="99000">
              <a:schemeClr val="tx2">
                <a:lumMod val="40000"/>
                <a:lumOff val="60000"/>
              </a:schemeClr>
            </a:gs>
          </a:gsLst>
          <a:lin ang="12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1BA6450-E291-DC40-F198-C02B485137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" y="1"/>
            <a:ext cx="12192003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A462FF1-D97D-8505-FE7F-8B2DB411A8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" y="1821180"/>
            <a:ext cx="12191994" cy="3215641"/>
          </a:xfrm>
        </p:spPr>
        <p:txBody>
          <a:bodyPr lIns="0" rIns="0" bIns="0" anchor="ctr" anchorCtr="0">
            <a:noAutofit/>
          </a:bodyPr>
          <a:lstStyle>
            <a:lvl1pPr algn="ctr">
              <a:defRPr sz="6000" kern="1200" cap="all" spc="30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6350451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9A084D09-1B2D-4EE2-82A7-83196133B8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-6350"/>
            <a:ext cx="12185769" cy="6864350"/>
            <a:chOff x="0" y="-6350"/>
            <a:chExt cx="12185769" cy="686435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3860AA6-1B14-DF89-B725-CC444E5020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-6350"/>
              <a:ext cx="6160393" cy="6864350"/>
            </a:xfrm>
            <a:prstGeom prst="rect">
              <a:avLst/>
            </a:prstGeom>
            <a:solidFill>
              <a:schemeClr val="tx1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6" name="Content Placeholder 14">
              <a:extLst>
                <a:ext uri="{FF2B5EF4-FFF2-40B4-BE49-F238E27FC236}">
                  <a16:creationId xmlns:a16="http://schemas.microsoft.com/office/drawing/2014/main" id="{D172E570-D67F-4980-88C2-CF6560C1C1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screen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 rot="5400000">
              <a:off x="5750267" y="410125"/>
              <a:ext cx="6845628" cy="6025377"/>
            </a:xfrm>
            <a:prstGeom prst="rect">
              <a:avLst/>
            </a:prstGeom>
          </p:spPr>
        </p:pic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AF90BF68-CF26-6705-CBFD-428BEB787EDB}"/>
                </a:ext>
              </a:extLst>
            </p:cNvPr>
            <p:cNvGrpSpPr/>
            <p:nvPr/>
          </p:nvGrpSpPr>
          <p:grpSpPr>
            <a:xfrm rot="10800000">
              <a:off x="5304704" y="259572"/>
              <a:ext cx="584267" cy="390181"/>
              <a:chOff x="1876516" y="596691"/>
              <a:chExt cx="584267" cy="390181"/>
            </a:xfrm>
          </p:grpSpPr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1066F635-8DB9-B091-8467-D8F0327217F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876516" y="842493"/>
                <a:ext cx="144379" cy="144379"/>
              </a:xfrm>
              <a:prstGeom prst="ellipse">
                <a:avLst/>
              </a:prstGeom>
              <a:noFill/>
              <a:ln>
                <a:solidFill>
                  <a:schemeClr val="accent4">
                    <a:lumMod val="60000"/>
                    <a:lumOff val="40000"/>
                    <a:alpha val="49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9" name="Graphic 12">
                <a:extLst>
                  <a:ext uri="{FF2B5EF4-FFF2-40B4-BE49-F238E27FC236}">
                    <a16:creationId xmlns:a16="http://schemas.microsoft.com/office/drawing/2014/main" id="{882D2FD3-A05B-400C-6347-115486FFD94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2360199" y="596691"/>
                <a:ext cx="100584" cy="100584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60459F4-C5B9-4070-46D1-2E7DA3EFBF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5"/>
            <a:ext cx="4466502" cy="1936866"/>
          </a:xfrm>
        </p:spPr>
        <p:txBody>
          <a:bodyPr anchor="b"/>
          <a:lstStyle>
            <a:lvl1pPr>
              <a:defRPr sz="3200" cap="all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4F613B1-323C-4C25-4526-1D3313A716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35831" y="2620500"/>
            <a:ext cx="4471665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D2C2143-1936-BBDA-A6A8-40B6DBD16AE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838201" y="3097848"/>
            <a:ext cx="4466504" cy="3405187"/>
          </a:xfrm>
        </p:spPr>
        <p:txBody>
          <a:bodyPr/>
          <a:lstStyle>
            <a:lvl1pPr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defRPr sz="1800">
                <a:solidFill>
                  <a:schemeClr val="bg1"/>
                </a:solidFill>
                <a:latin typeface="+mn-lt"/>
              </a:defRPr>
            </a:lvl1pPr>
            <a:lvl2pPr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defRPr sz="1600">
                <a:solidFill>
                  <a:schemeClr val="bg1"/>
                </a:solidFill>
                <a:latin typeface="+mn-lt"/>
              </a:defRPr>
            </a:lvl2pPr>
            <a:lvl3pPr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defRPr sz="1400">
                <a:solidFill>
                  <a:schemeClr val="bg1"/>
                </a:solidFill>
                <a:latin typeface="+mn-lt"/>
              </a:defRPr>
            </a:lvl3pPr>
            <a:lvl4pPr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defRPr sz="1200">
                <a:solidFill>
                  <a:schemeClr val="bg1"/>
                </a:solidFill>
                <a:latin typeface="+mn-lt"/>
              </a:defRPr>
            </a:lvl4pPr>
            <a:lvl5pPr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defRPr sz="12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090407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12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EB5B81B-FCE8-FE9C-8F0A-6488B25F0F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1869" y="343814"/>
            <a:ext cx="11550701" cy="621060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1869" y="579120"/>
            <a:ext cx="11548261" cy="2733306"/>
          </a:xfrm>
        </p:spPr>
        <p:txBody>
          <a:bodyPr anchor="b">
            <a:noAutofit/>
          </a:bodyPr>
          <a:lstStyle>
            <a:lvl1pPr algn="ctr">
              <a:defRPr sz="3200" cap="all" spc="3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5F877C2F-8190-18D9-5D24-5BD7B05A29F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21868" y="3484615"/>
            <a:ext cx="11562303" cy="2387865"/>
          </a:xfrm>
        </p:spPr>
        <p:txBody>
          <a:bodyPr>
            <a:noAutofit/>
          </a:bodyPr>
          <a:lstStyle>
            <a:lvl1pPr marL="0" indent="0" algn="ctr">
              <a:buNone/>
              <a:defRPr sz="6000" b="0" i="0" cap="all" spc="600" baseline="0">
                <a:solidFill>
                  <a:schemeClr val="accent3">
                    <a:lumMod val="75000"/>
                  </a:schemeClr>
                </a:solidFill>
                <a:latin typeface="+mj-lt"/>
                <a:cs typeface="Biome Light" panose="020B03030302040208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86590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bg>
      <p:bgPr>
        <a:gradFill>
          <a:gsLst>
            <a:gs pos="100000">
              <a:schemeClr val="tx2"/>
            </a:gs>
            <a:gs pos="79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664209F-41AB-70E5-1B9E-7490900C59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" y="1"/>
            <a:ext cx="12191997" cy="6857998"/>
          </a:xfrm>
          <a:prstGeom prst="rect">
            <a:avLst/>
          </a:prstGeom>
          <a:gradFill flip="none" rotWithShape="1">
            <a:gsLst>
              <a:gs pos="0">
                <a:srgbClr val="1A012C"/>
              </a:gs>
              <a:gs pos="45000">
                <a:srgbClr val="1A012C">
                  <a:alpha val="50000"/>
                </a:srgbClr>
              </a:gs>
              <a:gs pos="100000">
                <a:schemeClr val="accent6">
                  <a:lumMod val="50000"/>
                  <a:alpha val="50000"/>
                </a:schemeClr>
              </a:gs>
            </a:gsLst>
            <a:path path="circle">
              <a:fillToRect l="50000" t="50000" r="50000" b="50000"/>
            </a:path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32D3409-585B-54E2-1DCC-AC58804E4A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-6350"/>
            <a:ext cx="6096000" cy="686435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99891" y="511762"/>
            <a:ext cx="4960830" cy="2785158"/>
          </a:xfrm>
        </p:spPr>
        <p:txBody>
          <a:bodyPr anchor="b">
            <a:noAutofit/>
          </a:bodyPr>
          <a:lstStyle>
            <a:lvl1pPr algn="l">
              <a:defRPr sz="2400" cap="all" spc="3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E47B8A5C-E279-DB0B-E9D3-92741787612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02640" y="3484615"/>
            <a:ext cx="4958081" cy="2387865"/>
          </a:xfrm>
        </p:spPr>
        <p:txBody>
          <a:bodyPr>
            <a:noAutofit/>
          </a:bodyPr>
          <a:lstStyle>
            <a:lvl1pPr marL="0" indent="0" algn="l">
              <a:buNone/>
              <a:defRPr sz="3200" b="0" i="0" cap="all" spc="600" baseline="0">
                <a:solidFill>
                  <a:schemeClr val="accent3">
                    <a:lumMod val="75000"/>
                  </a:schemeClr>
                </a:solidFill>
                <a:latin typeface="+mj-lt"/>
                <a:cs typeface="Biome Light" panose="020B03030302040208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386C402-C5C5-2A54-C618-62673AD93CB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97638" y="336550"/>
            <a:ext cx="5322887" cy="6184900"/>
          </a:xfrm>
        </p:spPr>
        <p:txBody>
          <a:bodyPr/>
          <a:lstStyle>
            <a:lvl1pPr algn="ctr"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32185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and 2 column">
    <p:bg>
      <p:bgPr>
        <a:gradFill>
          <a:gsLst>
            <a:gs pos="100000">
              <a:schemeClr val="tx2"/>
            </a:gs>
            <a:gs pos="79000">
              <a:schemeClr val="accent6"/>
            </a:gs>
            <a:gs pos="55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14">
            <a:extLst>
              <a:ext uri="{FF2B5EF4-FFF2-40B4-BE49-F238E27FC236}">
                <a16:creationId xmlns:a16="http://schemas.microsoft.com/office/drawing/2014/main" id="{318CE367-BBCB-F4AB-635F-4C9995EAE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6350"/>
            <a:ext cx="2356339" cy="6853863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CE3FBBA-81E2-31F1-EF51-02706B5B5C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356339" y="-6350"/>
            <a:ext cx="9831801" cy="686435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AD3746D-3CD1-FFA5-0019-AD0C588B19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305669" y="2002443"/>
            <a:ext cx="7922116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05669" y="113097"/>
            <a:ext cx="7420819" cy="1656304"/>
          </a:xfrm>
        </p:spPr>
        <p:txBody>
          <a:bodyPr lIns="0"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B9624CF4-7769-4663-3361-39136F5E20C8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3305669" y="2470150"/>
            <a:ext cx="7420819" cy="3676649"/>
          </a:xfrm>
        </p:spPr>
        <p:txBody>
          <a:bodyPr/>
          <a:lstStyle>
            <a:lvl1pPr marL="2857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  <a:latin typeface="+mn-lt"/>
              </a:defRPr>
            </a:lvl1pPr>
            <a:lvl2pPr marL="8001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+mn-lt"/>
              </a:defRPr>
            </a:lvl2pPr>
            <a:lvl3pPr marL="12573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+mn-lt"/>
              </a:defRPr>
            </a:lvl3pPr>
            <a:lvl4pPr marL="16573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+mn-lt"/>
              </a:defRPr>
            </a:lvl4pPr>
            <a:lvl5pPr marL="21145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80267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361F2FA-20C7-5447-C138-CE2CA186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" y="2"/>
            <a:ext cx="12191997" cy="6857998"/>
            <a:chOff x="3" y="2"/>
            <a:chExt cx="12191997" cy="6857998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DFEDD626-82E4-71C6-25F1-CDA46B7B3F39}"/>
                </a:ext>
              </a:extLst>
            </p:cNvPr>
            <p:cNvSpPr/>
            <p:nvPr/>
          </p:nvSpPr>
          <p:spPr>
            <a:xfrm>
              <a:off x="3" y="2"/>
              <a:ext cx="12191997" cy="6857998"/>
            </a:xfrm>
            <a:prstGeom prst="rect">
              <a:avLst/>
            </a:prstGeom>
            <a:gradFill flip="none" rotWithShape="1">
              <a:gsLst>
                <a:gs pos="0">
                  <a:srgbClr val="1A012C"/>
                </a:gs>
                <a:gs pos="45000">
                  <a:srgbClr val="1A012C">
                    <a:alpha val="50000"/>
                  </a:srgbClr>
                </a:gs>
                <a:gs pos="100000">
                  <a:schemeClr val="accent6">
                    <a:lumMod val="50000"/>
                    <a:alpha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CDC952AF-CE06-54F7-CB4A-1722F90AC3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" y="2"/>
              <a:ext cx="12191994" cy="6857996"/>
            </a:xfrm>
            <a:prstGeom prst="rect">
              <a:avLst/>
            </a:prstGeom>
          </p:spPr>
        </p:pic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E6EDFF3-843B-AAE9-DB73-423142606F52}"/>
                </a:ext>
              </a:extLst>
            </p:cNvPr>
            <p:cNvGrpSpPr/>
            <p:nvPr/>
          </p:nvGrpSpPr>
          <p:grpSpPr>
            <a:xfrm rot="5400000">
              <a:off x="1645776" y="1222395"/>
              <a:ext cx="431603" cy="412684"/>
              <a:chOff x="1870859" y="869908"/>
              <a:chExt cx="431603" cy="412684"/>
            </a:xfrm>
          </p:grpSpPr>
          <p:sp>
            <p:nvSpPr>
              <p:cNvPr id="12" name="Graphic 15">
                <a:extLst>
                  <a:ext uri="{FF2B5EF4-FFF2-40B4-BE49-F238E27FC236}">
                    <a16:creationId xmlns:a16="http://schemas.microsoft.com/office/drawing/2014/main" id="{312F4F85-6C79-201D-E20D-64CD4728E4C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 rot="10800000">
                <a:off x="1870859" y="1154576"/>
                <a:ext cx="128016" cy="128016"/>
              </a:xfrm>
              <a:custGeom>
                <a:avLst/>
                <a:gdLst>
                  <a:gd name="connsiteX0" fmla="*/ 63857 w 127713"/>
                  <a:gd name="connsiteY0" fmla="*/ 18874 h 127713"/>
                  <a:gd name="connsiteX1" fmla="*/ 108839 w 127713"/>
                  <a:gd name="connsiteY1" fmla="*/ 63857 h 127713"/>
                  <a:gd name="connsiteX2" fmla="*/ 63857 w 127713"/>
                  <a:gd name="connsiteY2" fmla="*/ 108839 h 127713"/>
                  <a:gd name="connsiteX3" fmla="*/ 18874 w 127713"/>
                  <a:gd name="connsiteY3" fmla="*/ 63857 h 127713"/>
                  <a:gd name="connsiteX4" fmla="*/ 63857 w 127713"/>
                  <a:gd name="connsiteY4" fmla="*/ 18874 h 127713"/>
                  <a:gd name="connsiteX5" fmla="*/ 63857 w 127713"/>
                  <a:gd name="connsiteY5" fmla="*/ 0 h 127713"/>
                  <a:gd name="connsiteX6" fmla="*/ 0 w 127713"/>
                  <a:gd name="connsiteY6" fmla="*/ 63857 h 127713"/>
                  <a:gd name="connsiteX7" fmla="*/ 63857 w 127713"/>
                  <a:gd name="connsiteY7" fmla="*/ 127713 h 127713"/>
                  <a:gd name="connsiteX8" fmla="*/ 127713 w 127713"/>
                  <a:gd name="connsiteY8" fmla="*/ 63857 h 127713"/>
                  <a:gd name="connsiteX9" fmla="*/ 63857 w 127713"/>
                  <a:gd name="connsiteY9" fmla="*/ 0 h 1277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27713" h="127713">
                    <a:moveTo>
                      <a:pt x="63857" y="18874"/>
                    </a:moveTo>
                    <a:cubicBezTo>
                      <a:pt x="88700" y="18874"/>
                      <a:pt x="108839" y="39013"/>
                      <a:pt x="108839" y="63857"/>
                    </a:cubicBezTo>
                    <a:cubicBezTo>
                      <a:pt x="108839" y="88700"/>
                      <a:pt x="88700" y="108839"/>
                      <a:pt x="63857" y="108839"/>
                    </a:cubicBezTo>
                    <a:cubicBezTo>
                      <a:pt x="39013" y="108839"/>
                      <a:pt x="18874" y="88700"/>
                      <a:pt x="18874" y="63857"/>
                    </a:cubicBezTo>
                    <a:cubicBezTo>
                      <a:pt x="18898" y="39023"/>
                      <a:pt x="39023" y="18898"/>
                      <a:pt x="63857" y="18874"/>
                    </a:cubicBezTo>
                    <a:moveTo>
                      <a:pt x="63857" y="0"/>
                    </a:moveTo>
                    <a:cubicBezTo>
                      <a:pt x="28590" y="0"/>
                      <a:pt x="0" y="28590"/>
                      <a:pt x="0" y="63857"/>
                    </a:cubicBezTo>
                    <a:cubicBezTo>
                      <a:pt x="0" y="99124"/>
                      <a:pt x="28590" y="127713"/>
                      <a:pt x="63857" y="127713"/>
                    </a:cubicBezTo>
                    <a:cubicBezTo>
                      <a:pt x="99124" y="127713"/>
                      <a:pt x="127713" y="99124"/>
                      <a:pt x="127713" y="63857"/>
                    </a:cubicBezTo>
                    <a:cubicBezTo>
                      <a:pt x="127713" y="28590"/>
                      <a:pt x="99124" y="0"/>
                      <a:pt x="63857" y="0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610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  <p:sp>
            <p:nvSpPr>
              <p:cNvPr id="13" name="Graphic 12">
                <a:extLst>
                  <a:ext uri="{FF2B5EF4-FFF2-40B4-BE49-F238E27FC236}">
                    <a16:creationId xmlns:a16="http://schemas.microsoft.com/office/drawing/2014/main" id="{01D71DAD-ECC6-A850-88E4-A4EDCF494A2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2256743" y="869908"/>
                <a:ext cx="45719" cy="37785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C632CC6D-6024-2368-8EBA-4B7A2D6428BC}"/>
                </a:ext>
              </a:extLst>
            </p:cNvPr>
            <p:cNvGrpSpPr/>
            <p:nvPr/>
          </p:nvGrpSpPr>
          <p:grpSpPr>
            <a:xfrm rot="20626702">
              <a:off x="10248169" y="5448942"/>
              <a:ext cx="431603" cy="412684"/>
              <a:chOff x="1870859" y="869908"/>
              <a:chExt cx="431603" cy="412684"/>
            </a:xfrm>
          </p:grpSpPr>
          <p:sp>
            <p:nvSpPr>
              <p:cNvPr id="6" name="Graphic 15">
                <a:extLst>
                  <a:ext uri="{FF2B5EF4-FFF2-40B4-BE49-F238E27FC236}">
                    <a16:creationId xmlns:a16="http://schemas.microsoft.com/office/drawing/2014/main" id="{B05BE7BE-7D54-A09B-8A67-6B28CF6BB6C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 rot="10800000">
                <a:off x="1870859" y="1154576"/>
                <a:ext cx="128016" cy="128016"/>
              </a:xfrm>
              <a:custGeom>
                <a:avLst/>
                <a:gdLst>
                  <a:gd name="connsiteX0" fmla="*/ 63857 w 127713"/>
                  <a:gd name="connsiteY0" fmla="*/ 18874 h 127713"/>
                  <a:gd name="connsiteX1" fmla="*/ 108839 w 127713"/>
                  <a:gd name="connsiteY1" fmla="*/ 63857 h 127713"/>
                  <a:gd name="connsiteX2" fmla="*/ 63857 w 127713"/>
                  <a:gd name="connsiteY2" fmla="*/ 108839 h 127713"/>
                  <a:gd name="connsiteX3" fmla="*/ 18874 w 127713"/>
                  <a:gd name="connsiteY3" fmla="*/ 63857 h 127713"/>
                  <a:gd name="connsiteX4" fmla="*/ 63857 w 127713"/>
                  <a:gd name="connsiteY4" fmla="*/ 18874 h 127713"/>
                  <a:gd name="connsiteX5" fmla="*/ 63857 w 127713"/>
                  <a:gd name="connsiteY5" fmla="*/ 0 h 127713"/>
                  <a:gd name="connsiteX6" fmla="*/ 0 w 127713"/>
                  <a:gd name="connsiteY6" fmla="*/ 63857 h 127713"/>
                  <a:gd name="connsiteX7" fmla="*/ 63857 w 127713"/>
                  <a:gd name="connsiteY7" fmla="*/ 127713 h 127713"/>
                  <a:gd name="connsiteX8" fmla="*/ 127713 w 127713"/>
                  <a:gd name="connsiteY8" fmla="*/ 63857 h 127713"/>
                  <a:gd name="connsiteX9" fmla="*/ 63857 w 127713"/>
                  <a:gd name="connsiteY9" fmla="*/ 0 h 1277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27713" h="127713">
                    <a:moveTo>
                      <a:pt x="63857" y="18874"/>
                    </a:moveTo>
                    <a:cubicBezTo>
                      <a:pt x="88700" y="18874"/>
                      <a:pt x="108839" y="39013"/>
                      <a:pt x="108839" y="63857"/>
                    </a:cubicBezTo>
                    <a:cubicBezTo>
                      <a:pt x="108839" y="88700"/>
                      <a:pt x="88700" y="108839"/>
                      <a:pt x="63857" y="108839"/>
                    </a:cubicBezTo>
                    <a:cubicBezTo>
                      <a:pt x="39013" y="108839"/>
                      <a:pt x="18874" y="88700"/>
                      <a:pt x="18874" y="63857"/>
                    </a:cubicBezTo>
                    <a:cubicBezTo>
                      <a:pt x="18898" y="39023"/>
                      <a:pt x="39023" y="18898"/>
                      <a:pt x="63857" y="18874"/>
                    </a:cubicBezTo>
                    <a:moveTo>
                      <a:pt x="63857" y="0"/>
                    </a:moveTo>
                    <a:cubicBezTo>
                      <a:pt x="28590" y="0"/>
                      <a:pt x="0" y="28590"/>
                      <a:pt x="0" y="63857"/>
                    </a:cubicBezTo>
                    <a:cubicBezTo>
                      <a:pt x="0" y="99124"/>
                      <a:pt x="28590" y="127713"/>
                      <a:pt x="63857" y="127713"/>
                    </a:cubicBezTo>
                    <a:cubicBezTo>
                      <a:pt x="99124" y="127713"/>
                      <a:pt x="127713" y="99124"/>
                      <a:pt x="127713" y="63857"/>
                    </a:cubicBezTo>
                    <a:cubicBezTo>
                      <a:pt x="127713" y="28590"/>
                      <a:pt x="99124" y="0"/>
                      <a:pt x="63857" y="0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610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  <p:sp>
            <p:nvSpPr>
              <p:cNvPr id="7" name="Graphic 12">
                <a:extLst>
                  <a:ext uri="{FF2B5EF4-FFF2-40B4-BE49-F238E27FC236}">
                    <a16:creationId xmlns:a16="http://schemas.microsoft.com/office/drawing/2014/main" id="{258346A9-F75C-6704-EEED-CF7A8A0F801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2256743" y="869908"/>
                <a:ext cx="45719" cy="37785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82CC39D-03B1-4933-F236-462B5862EB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2448" y="264160"/>
            <a:ext cx="6327105" cy="3373973"/>
          </a:xfrm>
        </p:spPr>
        <p:txBody>
          <a:bodyPr anchor="b"/>
          <a:lstStyle>
            <a:lvl1pPr algn="ctr">
              <a:defRPr sz="3200" cap="all" spc="60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F711CA51-49DC-62CA-F147-F286B1C9DBD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932448" y="3962135"/>
            <a:ext cx="6327105" cy="2653771"/>
          </a:xfrm>
        </p:spPr>
        <p:txBody>
          <a:bodyPr>
            <a:noAutofit/>
          </a:bodyPr>
          <a:lstStyle>
            <a:lvl1pPr marL="0" indent="0" algn="ctr">
              <a:buNone/>
              <a:defRPr sz="1800" b="0" i="0" cap="all" spc="300" baseline="0">
                <a:solidFill>
                  <a:schemeClr val="bg1"/>
                </a:solidFill>
                <a:latin typeface="+mj-lt"/>
                <a:cs typeface="Biome Light" panose="020B03030302040208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11183414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9C7D5518-914C-92E3-E9EC-26752C9F05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-1" y="-6350"/>
            <a:ext cx="12192000" cy="6864350"/>
            <a:chOff x="-1" y="-6350"/>
            <a:chExt cx="12192000" cy="686435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C82D0B82-F74C-65EF-3BF6-8EEA16F36B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28750" y="-6350"/>
              <a:ext cx="10763249" cy="6864350"/>
            </a:xfrm>
            <a:prstGeom prst="rect">
              <a:avLst/>
            </a:prstGeom>
            <a:solidFill>
              <a:schemeClr val="tx1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6" name="Picture 5" descr="A blue and purple spiral&#10;&#10;Description automatically generated">
              <a:extLst>
                <a:ext uri="{FF2B5EF4-FFF2-40B4-BE49-F238E27FC236}">
                  <a16:creationId xmlns:a16="http://schemas.microsoft.com/office/drawing/2014/main" id="{44E12326-9CF4-38EC-1BAF-1F994F22089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b="-93"/>
            <a:stretch/>
          </p:blipFill>
          <p:spPr>
            <a:xfrm flipH="1">
              <a:off x="-1" y="0"/>
              <a:ext cx="1428751" cy="6858000"/>
            </a:xfrm>
            <a:prstGeom prst="rect">
              <a:avLst/>
            </a:prstGeom>
          </p:spPr>
        </p:pic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AD5C1D9C-B114-FC6A-9213-7287D39EAD9F}"/>
                </a:ext>
              </a:extLst>
            </p:cNvPr>
            <p:cNvGrpSpPr/>
            <p:nvPr/>
          </p:nvGrpSpPr>
          <p:grpSpPr>
            <a:xfrm>
              <a:off x="10649689" y="4382998"/>
              <a:ext cx="754139" cy="1865729"/>
              <a:chOff x="653351" y="2693558"/>
              <a:chExt cx="754139" cy="1865729"/>
            </a:xfrm>
          </p:grpSpPr>
          <p:sp>
            <p:nvSpPr>
              <p:cNvPr id="11" name="Graphic 15">
                <a:extLst>
                  <a:ext uri="{FF2B5EF4-FFF2-40B4-BE49-F238E27FC236}">
                    <a16:creationId xmlns:a16="http://schemas.microsoft.com/office/drawing/2014/main" id="{2BC89B10-C93E-8CE5-73B3-F6049168C31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098137" y="2693558"/>
                <a:ext cx="128016" cy="128016"/>
              </a:xfrm>
              <a:custGeom>
                <a:avLst/>
                <a:gdLst>
                  <a:gd name="connsiteX0" fmla="*/ 63857 w 127713"/>
                  <a:gd name="connsiteY0" fmla="*/ 18874 h 127713"/>
                  <a:gd name="connsiteX1" fmla="*/ 108839 w 127713"/>
                  <a:gd name="connsiteY1" fmla="*/ 63857 h 127713"/>
                  <a:gd name="connsiteX2" fmla="*/ 63857 w 127713"/>
                  <a:gd name="connsiteY2" fmla="*/ 108839 h 127713"/>
                  <a:gd name="connsiteX3" fmla="*/ 18874 w 127713"/>
                  <a:gd name="connsiteY3" fmla="*/ 63857 h 127713"/>
                  <a:gd name="connsiteX4" fmla="*/ 63857 w 127713"/>
                  <a:gd name="connsiteY4" fmla="*/ 18874 h 127713"/>
                  <a:gd name="connsiteX5" fmla="*/ 63857 w 127713"/>
                  <a:gd name="connsiteY5" fmla="*/ 0 h 127713"/>
                  <a:gd name="connsiteX6" fmla="*/ 0 w 127713"/>
                  <a:gd name="connsiteY6" fmla="*/ 63857 h 127713"/>
                  <a:gd name="connsiteX7" fmla="*/ 63857 w 127713"/>
                  <a:gd name="connsiteY7" fmla="*/ 127713 h 127713"/>
                  <a:gd name="connsiteX8" fmla="*/ 127713 w 127713"/>
                  <a:gd name="connsiteY8" fmla="*/ 63857 h 127713"/>
                  <a:gd name="connsiteX9" fmla="*/ 63857 w 127713"/>
                  <a:gd name="connsiteY9" fmla="*/ 0 h 1277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27713" h="127713">
                    <a:moveTo>
                      <a:pt x="63857" y="18874"/>
                    </a:moveTo>
                    <a:cubicBezTo>
                      <a:pt x="88700" y="18874"/>
                      <a:pt x="108839" y="39013"/>
                      <a:pt x="108839" y="63857"/>
                    </a:cubicBezTo>
                    <a:cubicBezTo>
                      <a:pt x="108839" y="88700"/>
                      <a:pt x="88700" y="108839"/>
                      <a:pt x="63857" y="108839"/>
                    </a:cubicBezTo>
                    <a:cubicBezTo>
                      <a:pt x="39013" y="108839"/>
                      <a:pt x="18874" y="88700"/>
                      <a:pt x="18874" y="63857"/>
                    </a:cubicBezTo>
                    <a:cubicBezTo>
                      <a:pt x="18898" y="39023"/>
                      <a:pt x="39023" y="18898"/>
                      <a:pt x="63857" y="18874"/>
                    </a:cubicBezTo>
                    <a:moveTo>
                      <a:pt x="63857" y="0"/>
                    </a:moveTo>
                    <a:cubicBezTo>
                      <a:pt x="28590" y="0"/>
                      <a:pt x="0" y="28590"/>
                      <a:pt x="0" y="63857"/>
                    </a:cubicBezTo>
                    <a:cubicBezTo>
                      <a:pt x="0" y="99124"/>
                      <a:pt x="28590" y="127713"/>
                      <a:pt x="63857" y="127713"/>
                    </a:cubicBezTo>
                    <a:cubicBezTo>
                      <a:pt x="99124" y="127713"/>
                      <a:pt x="127713" y="99124"/>
                      <a:pt x="127713" y="63857"/>
                    </a:cubicBezTo>
                    <a:cubicBezTo>
                      <a:pt x="127713" y="28590"/>
                      <a:pt x="99124" y="0"/>
                      <a:pt x="63857" y="0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610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  <p:sp>
            <p:nvSpPr>
              <p:cNvPr id="12" name="Graphic 12">
                <a:extLst>
                  <a:ext uri="{FF2B5EF4-FFF2-40B4-BE49-F238E27FC236}">
                    <a16:creationId xmlns:a16="http://schemas.microsoft.com/office/drawing/2014/main" id="{39DB2AA2-9661-AC91-932D-2F1BEC47BD8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306906" y="3837599"/>
                <a:ext cx="100584" cy="100584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  <p:sp>
            <p:nvSpPr>
              <p:cNvPr id="13" name="Graphic 12">
                <a:extLst>
                  <a:ext uri="{FF2B5EF4-FFF2-40B4-BE49-F238E27FC236}">
                    <a16:creationId xmlns:a16="http://schemas.microsoft.com/office/drawing/2014/main" id="{86C9AC9B-3792-E880-03FE-D46FB046AB6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653351" y="4521502"/>
                <a:ext cx="45719" cy="37785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1142A133-65D6-D958-C0CD-E8D45B9BD7BB}"/>
                </a:ext>
              </a:extLst>
            </p:cNvPr>
            <p:cNvGrpSpPr/>
            <p:nvPr/>
          </p:nvGrpSpPr>
          <p:grpSpPr>
            <a:xfrm>
              <a:off x="1870859" y="869908"/>
              <a:ext cx="431603" cy="412684"/>
              <a:chOff x="1870859" y="869908"/>
              <a:chExt cx="431603" cy="412684"/>
            </a:xfrm>
          </p:grpSpPr>
          <p:sp>
            <p:nvSpPr>
              <p:cNvPr id="9" name="Graphic 15">
                <a:extLst>
                  <a:ext uri="{FF2B5EF4-FFF2-40B4-BE49-F238E27FC236}">
                    <a16:creationId xmlns:a16="http://schemas.microsoft.com/office/drawing/2014/main" id="{A746B023-387D-4EAC-052B-60F131E6E70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 rot="10800000">
                <a:off x="1870859" y="1154576"/>
                <a:ext cx="128016" cy="128016"/>
              </a:xfrm>
              <a:custGeom>
                <a:avLst/>
                <a:gdLst>
                  <a:gd name="connsiteX0" fmla="*/ 63857 w 127713"/>
                  <a:gd name="connsiteY0" fmla="*/ 18874 h 127713"/>
                  <a:gd name="connsiteX1" fmla="*/ 108839 w 127713"/>
                  <a:gd name="connsiteY1" fmla="*/ 63857 h 127713"/>
                  <a:gd name="connsiteX2" fmla="*/ 63857 w 127713"/>
                  <a:gd name="connsiteY2" fmla="*/ 108839 h 127713"/>
                  <a:gd name="connsiteX3" fmla="*/ 18874 w 127713"/>
                  <a:gd name="connsiteY3" fmla="*/ 63857 h 127713"/>
                  <a:gd name="connsiteX4" fmla="*/ 63857 w 127713"/>
                  <a:gd name="connsiteY4" fmla="*/ 18874 h 127713"/>
                  <a:gd name="connsiteX5" fmla="*/ 63857 w 127713"/>
                  <a:gd name="connsiteY5" fmla="*/ 0 h 127713"/>
                  <a:gd name="connsiteX6" fmla="*/ 0 w 127713"/>
                  <a:gd name="connsiteY6" fmla="*/ 63857 h 127713"/>
                  <a:gd name="connsiteX7" fmla="*/ 63857 w 127713"/>
                  <a:gd name="connsiteY7" fmla="*/ 127713 h 127713"/>
                  <a:gd name="connsiteX8" fmla="*/ 127713 w 127713"/>
                  <a:gd name="connsiteY8" fmla="*/ 63857 h 127713"/>
                  <a:gd name="connsiteX9" fmla="*/ 63857 w 127713"/>
                  <a:gd name="connsiteY9" fmla="*/ 0 h 1277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27713" h="127713">
                    <a:moveTo>
                      <a:pt x="63857" y="18874"/>
                    </a:moveTo>
                    <a:cubicBezTo>
                      <a:pt x="88700" y="18874"/>
                      <a:pt x="108839" y="39013"/>
                      <a:pt x="108839" y="63857"/>
                    </a:cubicBezTo>
                    <a:cubicBezTo>
                      <a:pt x="108839" y="88700"/>
                      <a:pt x="88700" y="108839"/>
                      <a:pt x="63857" y="108839"/>
                    </a:cubicBezTo>
                    <a:cubicBezTo>
                      <a:pt x="39013" y="108839"/>
                      <a:pt x="18874" y="88700"/>
                      <a:pt x="18874" y="63857"/>
                    </a:cubicBezTo>
                    <a:cubicBezTo>
                      <a:pt x="18898" y="39023"/>
                      <a:pt x="39023" y="18898"/>
                      <a:pt x="63857" y="18874"/>
                    </a:cubicBezTo>
                    <a:moveTo>
                      <a:pt x="63857" y="0"/>
                    </a:moveTo>
                    <a:cubicBezTo>
                      <a:pt x="28590" y="0"/>
                      <a:pt x="0" y="28590"/>
                      <a:pt x="0" y="63857"/>
                    </a:cubicBezTo>
                    <a:cubicBezTo>
                      <a:pt x="0" y="99124"/>
                      <a:pt x="28590" y="127713"/>
                      <a:pt x="63857" y="127713"/>
                    </a:cubicBezTo>
                    <a:cubicBezTo>
                      <a:pt x="99124" y="127713"/>
                      <a:pt x="127713" y="99124"/>
                      <a:pt x="127713" y="63857"/>
                    </a:cubicBezTo>
                    <a:cubicBezTo>
                      <a:pt x="127713" y="28590"/>
                      <a:pt x="99124" y="0"/>
                      <a:pt x="63857" y="0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610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  <p:sp>
            <p:nvSpPr>
              <p:cNvPr id="10" name="Graphic 12">
                <a:extLst>
                  <a:ext uri="{FF2B5EF4-FFF2-40B4-BE49-F238E27FC236}">
                    <a16:creationId xmlns:a16="http://schemas.microsoft.com/office/drawing/2014/main" id="{20760125-21CF-A296-3EA7-3C6C0E9BCB2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2256743" y="869908"/>
                <a:ext cx="45719" cy="37785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</p:grpSp>
      </p:grp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F851D11-41E3-33F2-CBA6-B2A9A5A2A5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369139" y="2002443"/>
            <a:ext cx="8873530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99620" y="162560"/>
            <a:ext cx="8843050" cy="1616904"/>
          </a:xfrm>
        </p:spPr>
        <p:txBody>
          <a:bodyPr lIns="0"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2003C5A-BF21-DE87-0ED1-3E2D0F32B5D8}"/>
              </a:ext>
            </a:extLst>
          </p:cNvPr>
          <p:cNvSpPr>
            <a:spLocks noGrp="1"/>
          </p:cNvSpPr>
          <p:nvPr>
            <p:ph sz="quarter" idx="35" hasCustomPrompt="1"/>
          </p:nvPr>
        </p:nvSpPr>
        <p:spPr>
          <a:xfrm>
            <a:off x="2373002" y="2474811"/>
            <a:ext cx="4015098" cy="3528397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000"/>
              </a:spcBef>
              <a:buClr>
                <a:schemeClr val="accent6"/>
              </a:buClr>
              <a:buFont typeface="Arial" panose="020B0604020202020204" pitchFamily="34" charset="0"/>
              <a:buNone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283464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</a:defRPr>
            </a:lvl2pPr>
            <a:lvl3pPr marL="566928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</a:defRPr>
            </a:lvl3pPr>
            <a:lvl4pPr marL="859536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</a:defRPr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21" name="Content Placeholder 4">
            <a:extLst>
              <a:ext uri="{FF2B5EF4-FFF2-40B4-BE49-F238E27FC236}">
                <a16:creationId xmlns:a16="http://schemas.microsoft.com/office/drawing/2014/main" id="{D77F99A7-26FA-422E-43E9-C76B4A56E44A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6995159" y="2474811"/>
            <a:ext cx="4227332" cy="3528397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000"/>
              </a:spcBef>
              <a:buClr>
                <a:schemeClr val="accent6"/>
              </a:buClr>
              <a:buFont typeface="Arial" panose="020B0604020202020204" pitchFamily="34" charset="0"/>
              <a:buNone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283464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</a:defRPr>
            </a:lvl2pPr>
            <a:lvl3pPr marL="566928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</a:defRPr>
            </a:lvl3pPr>
            <a:lvl4pPr marL="859536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</a:defRPr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58284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3A7247A-846A-F316-B494-69B42CBF3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1869" y="343814"/>
            <a:ext cx="11550701" cy="621060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84B3AF6-983E-0901-0045-6CDF4E93E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07039" y="1983705"/>
            <a:ext cx="10435630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3C5B7647-403E-A66E-6CF4-0D3A99AA51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0800000" flipH="1">
            <a:off x="10488530" y="4210019"/>
            <a:ext cx="754139" cy="1865729"/>
            <a:chOff x="653351" y="2693558"/>
            <a:chExt cx="754139" cy="1865729"/>
          </a:xfrm>
        </p:grpSpPr>
        <p:sp>
          <p:nvSpPr>
            <p:cNvPr id="10" name="Graphic 15">
              <a:extLst>
                <a:ext uri="{FF2B5EF4-FFF2-40B4-BE49-F238E27FC236}">
                  <a16:creationId xmlns:a16="http://schemas.microsoft.com/office/drawing/2014/main" id="{E48E731E-FEF1-9C59-64B0-9CB6E88539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98137" y="2693558"/>
              <a:ext cx="128016" cy="128016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  <a:alpha val="49071"/>
              </a:schemeClr>
            </a:solidFill>
            <a:ln w="610" cap="flat">
              <a:noFill/>
              <a:prstDash val="solid"/>
              <a:miter/>
            </a:ln>
          </p:spPr>
          <p:txBody>
            <a:bodyPr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Graphic 12">
              <a:extLst>
                <a:ext uri="{FF2B5EF4-FFF2-40B4-BE49-F238E27FC236}">
                  <a16:creationId xmlns:a16="http://schemas.microsoft.com/office/drawing/2014/main" id="{AFE83BB3-4D12-8E20-CA93-1834D7F0A4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306906" y="3837599"/>
              <a:ext cx="100584" cy="100584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  <a:alpha val="49071"/>
              </a:schemeClr>
            </a:solidFill>
            <a:ln w="422" cap="flat">
              <a:noFill/>
              <a:prstDash val="solid"/>
              <a:miter/>
            </a:ln>
          </p:spPr>
          <p:txBody>
            <a:bodyPr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12" name="Graphic 12">
              <a:extLst>
                <a:ext uri="{FF2B5EF4-FFF2-40B4-BE49-F238E27FC236}">
                  <a16:creationId xmlns:a16="http://schemas.microsoft.com/office/drawing/2014/main" id="{3EB1D810-BC05-6C0E-0DE4-3604EBAADC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53351" y="4521502"/>
              <a:ext cx="45719" cy="37785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  <a:alpha val="49071"/>
              </a:schemeClr>
            </a:solidFill>
            <a:ln w="422" cap="flat">
              <a:noFill/>
              <a:prstDash val="solid"/>
              <a:miter/>
            </a:ln>
          </p:spPr>
          <p:txBody>
            <a:bodyPr rtlCol="0" anchor="ctr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1680" y="430482"/>
            <a:ext cx="10500989" cy="1327464"/>
          </a:xfrm>
        </p:spPr>
        <p:txBody>
          <a:bodyPr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2003C5A-BF21-DE87-0ED1-3E2D0F32B5D8}"/>
              </a:ext>
            </a:extLst>
          </p:cNvPr>
          <p:cNvSpPr>
            <a:spLocks noGrp="1"/>
          </p:cNvSpPr>
          <p:nvPr>
            <p:ph sz="quarter" idx="35" hasCustomPrompt="1"/>
          </p:nvPr>
        </p:nvSpPr>
        <p:spPr>
          <a:xfrm>
            <a:off x="807038" y="2465539"/>
            <a:ext cx="3774587" cy="3723753"/>
          </a:xfrm>
        </p:spPr>
        <p:txBody>
          <a:bodyPr/>
          <a:lstStyle>
            <a:lvl1pPr marL="342900" indent="-34290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+mj-lt"/>
              <a:buAutoNum type="arabicPeriod"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626364" indent="-34290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+mj-lt"/>
              <a:buAutoNum type="alphaLcPeriod"/>
              <a:defRPr sz="1800" spc="0">
                <a:solidFill>
                  <a:schemeClr val="bg1"/>
                </a:solidFill>
                <a:latin typeface="+mn-lt"/>
              </a:defRPr>
            </a:lvl2pPr>
            <a:lvl3pPr marL="918972" indent="-34290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+mj-lt"/>
              <a:buAutoNum type="arabicParenR"/>
              <a:defRPr sz="1800" spc="0">
                <a:solidFill>
                  <a:schemeClr val="bg1"/>
                </a:solidFill>
                <a:latin typeface="+mn-lt"/>
              </a:defRPr>
            </a:lvl3pPr>
            <a:lvl4pPr marL="1209294" indent="-34290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+mj-lt"/>
              <a:buAutoNum type="alphaLcParenR"/>
              <a:defRPr sz="1800" spc="0">
                <a:solidFill>
                  <a:schemeClr val="bg1"/>
                </a:solidFill>
                <a:latin typeface="+mn-lt"/>
              </a:defRPr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39870F08-C2AE-9AF7-58DE-EEA8A48BEDA9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4927600" y="2465539"/>
            <a:ext cx="6315069" cy="3723753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000"/>
              </a:spcBef>
              <a:buClr>
                <a:schemeClr val="accent6"/>
              </a:buClr>
              <a:buFont typeface="Arial" panose="020B0604020202020204" pitchFamily="34" charset="0"/>
              <a:buNone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283464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  <a:latin typeface="+mn-lt"/>
              </a:defRPr>
            </a:lvl2pPr>
            <a:lvl3pPr marL="566928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  <a:latin typeface="+mn-lt"/>
              </a:defRPr>
            </a:lvl3pPr>
            <a:lvl4pPr marL="859536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  <a:latin typeface="+mn-lt"/>
              </a:defRPr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62227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55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123B0D0-B01D-0BB0-6127-A878BE49D1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39728" y="-6350"/>
            <a:ext cx="6154615" cy="686435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 Nova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89627" y="173736"/>
            <a:ext cx="4352662" cy="2203704"/>
          </a:xfrm>
        </p:spPr>
        <p:txBody>
          <a:bodyPr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6C363351-4779-B42E-ED7A-C4AF2920BABC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336550" y="336550"/>
            <a:ext cx="5303640" cy="6184900"/>
          </a:xfrm>
        </p:spPr>
        <p:txBody>
          <a:bodyPr/>
          <a:lstStyle>
            <a:lvl1pPr algn="ctr"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39870F08-C2AE-9AF7-58DE-EEA8A48BEDA9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6889627" y="3104277"/>
            <a:ext cx="4371560" cy="3022201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6"/>
              </a:buClr>
              <a:buFont typeface="Arial" panose="020B0604020202020204" pitchFamily="34" charset="0"/>
              <a:buNone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569214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 spc="0"/>
            </a:lvl2pPr>
            <a:lvl3pPr marL="861822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 spc="0"/>
            </a:lvl3pPr>
            <a:lvl4pPr marL="1152144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 spc="0"/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0712911-615E-724B-FC0F-996291526D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89627" y="2679480"/>
            <a:ext cx="4352662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30826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55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CFFF0E2-6B47-67EB-D6AA-D972E7B7C3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6350"/>
            <a:ext cx="4646951" cy="686435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 Nova"/>
              <a:ea typeface="+mn-ea"/>
              <a:cs typeface="+mn-cs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4827F6F-999F-23E9-8C09-325D1A76B0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35831" y="2680134"/>
            <a:ext cx="3114078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5370" y="171396"/>
            <a:ext cx="3736630" cy="2202350"/>
          </a:xfrm>
        </p:spPr>
        <p:txBody>
          <a:bodyPr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39870F08-C2AE-9AF7-58DE-EEA8A48BEDA9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841716" y="3078480"/>
            <a:ext cx="3108193" cy="3047997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6"/>
              </a:buClr>
              <a:buFont typeface="Arial" panose="020B0604020202020204" pitchFamily="34" charset="0"/>
              <a:buNone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569214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 spc="0"/>
            </a:lvl2pPr>
            <a:lvl3pPr marL="861822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 spc="0"/>
            </a:lvl3pPr>
            <a:lvl4pPr marL="1152144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 spc="0"/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2" name="Table Placeholder 11">
            <a:extLst>
              <a:ext uri="{FF2B5EF4-FFF2-40B4-BE49-F238E27FC236}">
                <a16:creationId xmlns:a16="http://schemas.microsoft.com/office/drawing/2014/main" id="{D360C16C-E69B-FDEF-F033-CA9A2E238288}"/>
              </a:ext>
            </a:extLst>
          </p:cNvPr>
          <p:cNvSpPr>
            <a:spLocks noGrp="1"/>
          </p:cNvSpPr>
          <p:nvPr>
            <p:ph type="tbl" sz="quarter" idx="37"/>
          </p:nvPr>
        </p:nvSpPr>
        <p:spPr>
          <a:xfrm>
            <a:off x="5067300" y="404813"/>
            <a:ext cx="6705600" cy="6048375"/>
          </a:xfrm>
        </p:spPr>
        <p:txBody>
          <a:bodyPr/>
          <a:lstStyle>
            <a:lvl1pPr>
              <a:defRPr sz="2400">
                <a:latin typeface="+mn-lt"/>
              </a:defRPr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39072198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196A82D-0723-4BA3-0283-9F0D67B0CE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A20A5FD-BDFB-45F2-E644-E93FB81CA5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07039" y="1983416"/>
            <a:ext cx="10435630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33562" y="433906"/>
            <a:ext cx="10515601" cy="1327464"/>
          </a:xfrm>
        </p:spPr>
        <p:txBody>
          <a:bodyPr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39870F08-C2AE-9AF7-58DE-EEA8A48BEDA9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814302" y="2465535"/>
            <a:ext cx="7303538" cy="3427265"/>
          </a:xfrm>
        </p:spPr>
        <p:txBody>
          <a:bodyPr/>
          <a:lstStyle>
            <a:lvl1pPr marL="283464" indent="-283464">
              <a:lnSpc>
                <a:spcPct val="120000"/>
              </a:lnSpc>
              <a:spcBef>
                <a:spcPts val="1000"/>
              </a:spcBef>
              <a:buClr>
                <a:schemeClr val="accent3"/>
              </a:buClr>
              <a:buFont typeface="Arial" panose="020B0604020202020204" pitchFamily="34" charset="0"/>
              <a:buChar char="•"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566928" indent="-283464">
              <a:lnSpc>
                <a:spcPct val="120000"/>
              </a:lnSpc>
              <a:spcBef>
                <a:spcPts val="500"/>
              </a:spcBef>
              <a:buClr>
                <a:schemeClr val="accent3"/>
              </a:buClr>
              <a:defRPr sz="1800" spc="0"/>
            </a:lvl2pPr>
            <a:lvl3pPr marL="859536" indent="-283464">
              <a:lnSpc>
                <a:spcPct val="120000"/>
              </a:lnSpc>
              <a:spcBef>
                <a:spcPts val="500"/>
              </a:spcBef>
              <a:buClr>
                <a:schemeClr val="accent3"/>
              </a:buClr>
              <a:defRPr sz="1800" spc="0"/>
            </a:lvl3pPr>
            <a:lvl4pPr marL="1152144">
              <a:lnSpc>
                <a:spcPct val="120000"/>
              </a:lnSpc>
              <a:spcBef>
                <a:spcPts val="500"/>
              </a:spcBef>
              <a:buClr>
                <a:schemeClr val="accent3"/>
              </a:buClr>
              <a:defRPr sz="1800" spc="0"/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4E7FC75E-AA73-003E-D4E3-B1819886AF9C}"/>
              </a:ext>
            </a:extLst>
          </p:cNvPr>
          <p:cNvSpPr>
            <a:spLocks noGrp="1"/>
          </p:cNvSpPr>
          <p:nvPr>
            <p:ph sz="quarter" idx="37" hasCustomPrompt="1"/>
          </p:nvPr>
        </p:nvSpPr>
        <p:spPr>
          <a:xfrm>
            <a:off x="8392160" y="2465388"/>
            <a:ext cx="2856865" cy="3427412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+mn-lt"/>
              </a:defRPr>
            </a:lvl1pPr>
            <a:lvl2pPr marL="457200" indent="0">
              <a:lnSpc>
                <a:spcPct val="120000"/>
              </a:lnSpc>
              <a:spcBef>
                <a:spcPts val="1000"/>
              </a:spcBef>
              <a:buNone/>
              <a:defRPr sz="1600">
                <a:solidFill>
                  <a:schemeClr val="bg1"/>
                </a:solidFill>
                <a:latin typeface="+mn-lt"/>
              </a:defRPr>
            </a:lvl2pPr>
            <a:lvl3pPr marL="9144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bg1"/>
                </a:solidFill>
                <a:latin typeface="+mn-lt"/>
              </a:defRPr>
            </a:lvl3pPr>
            <a:lvl4pPr marL="1371600" indent="0">
              <a:lnSpc>
                <a:spcPct val="120000"/>
              </a:lnSpc>
              <a:spcBef>
                <a:spcPts val="1000"/>
              </a:spcBef>
              <a:buNone/>
              <a:defRPr sz="1200">
                <a:solidFill>
                  <a:schemeClr val="bg1"/>
                </a:solidFill>
                <a:latin typeface="+mn-lt"/>
              </a:defRPr>
            </a:lvl4pPr>
            <a:lvl5pPr marL="1828800" indent="0">
              <a:lnSpc>
                <a:spcPct val="120000"/>
              </a:lnSpc>
              <a:spcBef>
                <a:spcPts val="1000"/>
              </a:spcBef>
              <a:buNone/>
              <a:defRPr sz="12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56119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2D51531-1219-2E4B-DCE7-C6FD9D809F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1869" y="343814"/>
            <a:ext cx="11550701" cy="621060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EC02E56-87A4-158A-F0B0-DB8E9BE3AE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07039" y="1991547"/>
            <a:ext cx="10546763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5370" y="643842"/>
            <a:ext cx="10515601" cy="1140849"/>
          </a:xfrm>
        </p:spPr>
        <p:txBody>
          <a:bodyPr lIns="0"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Table Placeholder 9">
            <a:extLst>
              <a:ext uri="{FF2B5EF4-FFF2-40B4-BE49-F238E27FC236}">
                <a16:creationId xmlns:a16="http://schemas.microsoft.com/office/drawing/2014/main" id="{471D7DE3-05F5-8052-02FA-6EF9717E15BE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835025" y="2560638"/>
            <a:ext cx="10515600" cy="3478212"/>
          </a:xfrm>
        </p:spPr>
        <p:txBody>
          <a:bodyPr/>
          <a:lstStyle>
            <a:lvl1pPr>
              <a:defRPr sz="2400">
                <a:latin typeface="+mn-lt"/>
              </a:defRPr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468DE94-FC46-A848-7949-ABFEADADEA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07039" y="1983705"/>
            <a:ext cx="10435630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4591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gradFill>
          <a:gsLst>
            <a:gs pos="81987">
              <a:schemeClr val="accent6">
                <a:lumMod val="50000"/>
              </a:schemeClr>
            </a:gs>
            <a:gs pos="35040">
              <a:srgbClr val="020B11"/>
            </a:gs>
            <a:gs pos="11979">
              <a:schemeClr val="accent4">
                <a:lumMod val="50000"/>
              </a:schemeClr>
            </a:gs>
            <a:gs pos="0">
              <a:schemeClr val="accent4"/>
            </a:gs>
            <a:gs pos="99000">
              <a:schemeClr val="tx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289F5C3D-E9E6-75E0-BF7D-799B5CFE5E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575462" y="4137"/>
            <a:ext cx="7616537" cy="6853863"/>
            <a:chOff x="4575462" y="4137"/>
            <a:chExt cx="7616537" cy="6853863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DE1D2C2-40C4-6B80-E8C6-B4CE94C23037}"/>
                </a:ext>
              </a:extLst>
            </p:cNvPr>
            <p:cNvGrpSpPr/>
            <p:nvPr/>
          </p:nvGrpSpPr>
          <p:grpSpPr>
            <a:xfrm>
              <a:off x="4575462" y="691665"/>
              <a:ext cx="364018" cy="857035"/>
              <a:chOff x="468157" y="1144246"/>
              <a:chExt cx="364018" cy="857035"/>
            </a:xfrm>
          </p:grpSpPr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7C904D88-E1BE-F1FA-D405-F55DA966DA8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705405" y="1144246"/>
                <a:ext cx="126770" cy="126770"/>
              </a:xfrm>
              <a:prstGeom prst="ellipse">
                <a:avLst/>
              </a:prstGeom>
              <a:noFill/>
              <a:ln>
                <a:solidFill>
                  <a:schemeClr val="accent4">
                    <a:lumMod val="60000"/>
                    <a:lumOff val="40000"/>
                    <a:alpha val="49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18" name="Graphic 12">
                <a:extLst>
                  <a:ext uri="{FF2B5EF4-FFF2-40B4-BE49-F238E27FC236}">
                    <a16:creationId xmlns:a16="http://schemas.microsoft.com/office/drawing/2014/main" id="{1D8F0816-C429-D32E-058B-33405874DFA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468157" y="1963496"/>
                <a:ext cx="45719" cy="37785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</p:grpSp>
        <p:pic>
          <p:nvPicPr>
            <p:cNvPr id="4" name="Content Placeholder 14">
              <a:extLst>
                <a:ext uri="{FF2B5EF4-FFF2-40B4-BE49-F238E27FC236}">
                  <a16:creationId xmlns:a16="http://schemas.microsoft.com/office/drawing/2014/main" id="{14AC0A97-7D79-3DBE-FB53-A9EBFD806E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6542796" y="4137"/>
              <a:ext cx="5649203" cy="6853863"/>
            </a:xfrm>
            <a:prstGeom prst="rect">
              <a:avLst/>
            </a:prstGeom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51E83F98-B388-2594-BACB-E3DB652C97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5831" y="173735"/>
            <a:ext cx="4409514" cy="2203704"/>
          </a:xfrm>
        </p:spPr>
        <p:txBody>
          <a:bodyPr anchor="b">
            <a:noAutofit/>
          </a:bodyPr>
          <a:lstStyle>
            <a:lvl1pPr>
              <a:defRPr sz="3200" cap="all" baseline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D9D0F3E-69D8-49F3-5D7A-71FDC4E3EE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1850" y="3079119"/>
            <a:ext cx="4413250" cy="2752725"/>
          </a:xfrm>
        </p:spPr>
        <p:txBody>
          <a:bodyPr/>
          <a:lstStyle>
            <a:lvl1pPr>
              <a:lnSpc>
                <a:spcPct val="120000"/>
              </a:lnSpc>
              <a:spcBef>
                <a:spcPts val="1000"/>
              </a:spcBef>
              <a:defRPr sz="1800">
                <a:solidFill>
                  <a:schemeClr val="bg1"/>
                </a:solidFill>
                <a:latin typeface="+mn-lt"/>
              </a:defRPr>
            </a:lvl1pPr>
            <a:lvl2pPr>
              <a:lnSpc>
                <a:spcPct val="120000"/>
              </a:lnSpc>
              <a:spcBef>
                <a:spcPts val="1000"/>
              </a:spcBef>
              <a:buClr>
                <a:schemeClr val="accent3"/>
              </a:buClr>
              <a:defRPr sz="1600">
                <a:solidFill>
                  <a:schemeClr val="bg1"/>
                </a:solidFill>
                <a:latin typeface="+mn-lt"/>
              </a:defRPr>
            </a:lvl2pPr>
            <a:lvl3pPr>
              <a:lnSpc>
                <a:spcPct val="120000"/>
              </a:lnSpc>
              <a:spcBef>
                <a:spcPts val="1000"/>
              </a:spcBef>
              <a:buClr>
                <a:schemeClr val="accent3"/>
              </a:buClr>
              <a:defRPr sz="1400">
                <a:solidFill>
                  <a:schemeClr val="bg1"/>
                </a:solidFill>
                <a:latin typeface="+mn-lt"/>
              </a:defRPr>
            </a:lvl3pPr>
            <a:lvl4pPr>
              <a:lnSpc>
                <a:spcPct val="120000"/>
              </a:lnSpc>
              <a:spcBef>
                <a:spcPts val="1000"/>
              </a:spcBef>
              <a:buClr>
                <a:schemeClr val="accent3"/>
              </a:buClr>
              <a:defRPr sz="1200">
                <a:solidFill>
                  <a:schemeClr val="bg1"/>
                </a:solidFill>
                <a:latin typeface="+mn-lt"/>
              </a:defRPr>
            </a:lvl4pPr>
            <a:lvl5pPr>
              <a:lnSpc>
                <a:spcPct val="120000"/>
              </a:lnSpc>
              <a:spcBef>
                <a:spcPts val="1000"/>
              </a:spcBef>
              <a:buClr>
                <a:schemeClr val="accent3"/>
              </a:buClr>
              <a:defRPr sz="12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1CFC792-44F7-2497-E19D-8FB08AFF94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35831" y="2679192"/>
            <a:ext cx="4101929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82607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tx1"/>
            </a:gs>
            <a:gs pos="99000">
              <a:srgbClr val="05202E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C3EA418-19D1-0D4D-BE52-40A86E32F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2BAE0C-5187-A64D-A481-E692456703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759C05-48F5-9346-8256-5B61C6990E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bg1"/>
                </a:solidFill>
                <a:latin typeface="+mj-lt"/>
                <a:cs typeface="Biome" panose="020B05030302040208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175D63-7351-9C4A-AEE0-10E27B3B64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+mj-lt"/>
                <a:cs typeface="Biome" panose="020B0503030204020804" pitchFamily="34" charset="0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50889F-2BBA-5F45-95BC-BEA6688167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bg1"/>
                </a:solidFill>
                <a:latin typeface="+mj-lt"/>
                <a:cs typeface="Biome" panose="020B0503030204020804" pitchFamily="34" charset="0"/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56931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79" r:id="rId2"/>
    <p:sldLayoutId id="2147483669" r:id="rId3"/>
    <p:sldLayoutId id="2147483672" r:id="rId4"/>
    <p:sldLayoutId id="2147483673" r:id="rId5"/>
    <p:sldLayoutId id="2147483674" r:id="rId6"/>
    <p:sldLayoutId id="2147483671" r:id="rId7"/>
    <p:sldLayoutId id="2147483675" r:id="rId8"/>
    <p:sldLayoutId id="2147483676" r:id="rId9"/>
    <p:sldLayoutId id="2147483670" r:id="rId10"/>
    <p:sldLayoutId id="2147483677" r:id="rId11"/>
    <p:sldLayoutId id="2147483678" r:id="rId12"/>
    <p:sldLayoutId id="2147483664" r:id="rId13"/>
    <p:sldLayoutId id="2147483663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300" baseline="0">
          <a:solidFill>
            <a:schemeClr val="bg1"/>
          </a:solidFill>
          <a:latin typeface="+mj-lt"/>
          <a:ea typeface="+mj-ea"/>
          <a:cs typeface="Biome" panose="020B0503030204020804" pitchFamily="34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kern="1200">
          <a:solidFill>
            <a:schemeClr val="accent3"/>
          </a:solidFill>
          <a:latin typeface="+mj-lt"/>
          <a:ea typeface="+mn-ea"/>
          <a:cs typeface="Biome" panose="020B0503030204020804" pitchFamily="34" charset="0"/>
        </a:defRPr>
      </a:lvl1pPr>
      <a:lvl2pPr marL="800100" indent="-342900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2pPr>
      <a:lvl3pPr marL="1257300" indent="-342900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57350" indent="-285750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114550" indent="-285750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997874EA-2F67-60CD-631F-5A787057F8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04799"/>
            <a:ext cx="12191998" cy="3215641"/>
          </a:xfrm>
        </p:spPr>
        <p:txBody>
          <a:bodyPr anchor="b"/>
          <a:lstStyle/>
          <a:p>
            <a:r>
              <a:rPr lang="en-US" sz="4000" b="1" dirty="0"/>
              <a:t>Unveiling Shared Molecular Pathways Between COVID-19 and Alzheimer’s Disease</a:t>
            </a:r>
          </a:p>
        </p:txBody>
      </p:sp>
      <p:sp>
        <p:nvSpPr>
          <p:cNvPr id="9" name="Subtitle 3">
            <a:extLst>
              <a:ext uri="{FF2B5EF4-FFF2-40B4-BE49-F238E27FC236}">
                <a16:creationId xmlns:a16="http://schemas.microsoft.com/office/drawing/2014/main" id="{2981AB9E-AF0F-CAD0-2DD2-D640FB871E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" y="3670628"/>
            <a:ext cx="12191997" cy="2577772"/>
          </a:xfrm>
        </p:spPr>
        <p:txBody>
          <a:bodyPr/>
          <a:lstStyle/>
          <a:p>
            <a:r>
              <a:rPr lang="en-US" sz="2000" dirty="0"/>
              <a:t>Cbio311/cbio310</a:t>
            </a:r>
          </a:p>
          <a:p>
            <a:r>
              <a:rPr lang="en-US" sz="2000" dirty="0"/>
              <a:t>Dr. Mohamed </a:t>
            </a:r>
            <a:r>
              <a:rPr lang="en-US" sz="2000" dirty="0" err="1"/>
              <a:t>el-sayeh</a:t>
            </a:r>
            <a:endParaRPr lang="en-US" sz="2000" dirty="0"/>
          </a:p>
          <a:p>
            <a:endParaRPr lang="en-US" sz="2000" dirty="0"/>
          </a:p>
          <a:p>
            <a:r>
              <a:rPr lang="en-US" sz="1600" b="1" dirty="0"/>
              <a:t>Team: </a:t>
            </a:r>
            <a:r>
              <a:rPr lang="en-US" sz="1600" b="1" dirty="0" err="1"/>
              <a:t>sama</a:t>
            </a:r>
            <a:r>
              <a:rPr lang="en-US" sz="1600" b="1" dirty="0"/>
              <a:t> </a:t>
            </a:r>
            <a:r>
              <a:rPr lang="en-US" sz="1600" b="1" dirty="0" err="1"/>
              <a:t>saeed</a:t>
            </a:r>
            <a:r>
              <a:rPr lang="en-US" sz="1600" b="1" dirty="0"/>
              <a:t>, Abdallah Mohamed,</a:t>
            </a:r>
          </a:p>
          <a:p>
            <a:r>
              <a:rPr lang="en-US" sz="1600" b="1" dirty="0"/>
              <a:t> Malak </a:t>
            </a:r>
            <a:r>
              <a:rPr lang="en-US" sz="1600" b="1" dirty="0" err="1"/>
              <a:t>reda</a:t>
            </a:r>
            <a:r>
              <a:rPr lang="en-US" sz="1600" b="1" dirty="0"/>
              <a:t>, Haneen Mohamed</a:t>
            </a:r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4980314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F60903-003B-273E-3584-5312F76C3E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5669" y="113097"/>
            <a:ext cx="7420819" cy="1656304"/>
          </a:xfrm>
        </p:spPr>
        <p:txBody>
          <a:bodyPr/>
          <a:lstStyle/>
          <a:p>
            <a:r>
              <a:rPr lang="en-US" sz="6000" b="1" dirty="0"/>
              <a:t>Background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160DFF-2E7E-7A22-819A-C011020DFF01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3305669" y="2470150"/>
            <a:ext cx="7420819" cy="4121173"/>
          </a:xfrm>
        </p:spPr>
        <p:txBody>
          <a:bodyPr/>
          <a:lstStyle/>
          <a:p>
            <a:r>
              <a:rPr lang="en-US" sz="2000" b="1" dirty="0">
                <a:latin typeface="Aptos" panose="020B0004020202020204" pitchFamily="34" charset="0"/>
              </a:rPr>
              <a:t>Why this project?</a:t>
            </a:r>
          </a:p>
          <a:p>
            <a:r>
              <a:rPr lang="en-US" sz="2000" b="1" dirty="0">
                <a:latin typeface="Aptos" panose="020B0004020202020204" pitchFamily="34" charset="0"/>
              </a:rPr>
              <a:t>COVID-19 has neurological effects</a:t>
            </a:r>
          </a:p>
          <a:p>
            <a:r>
              <a:rPr lang="en-US" sz="2000" b="1" dirty="0">
                <a:latin typeface="Aptos" panose="020B0004020202020204" pitchFamily="34" charset="0"/>
              </a:rPr>
              <a:t>Alzheimer’s is a neurodegenerative disease</a:t>
            </a:r>
          </a:p>
          <a:p>
            <a:r>
              <a:rPr lang="en-US" sz="2000" b="1" dirty="0">
                <a:latin typeface="Aptos" panose="020B0004020202020204" pitchFamily="34" charset="0"/>
              </a:rPr>
              <a:t>Similar symptoms have been observed</a:t>
            </a:r>
          </a:p>
          <a:p>
            <a:r>
              <a:rPr lang="en-US" sz="2000" b="1" dirty="0">
                <a:latin typeface="Aptos" panose="020B0004020202020204" pitchFamily="34" charset="0"/>
              </a:rPr>
              <a:t>Possible shared molecular pathways</a:t>
            </a:r>
          </a:p>
          <a:p>
            <a:endParaRPr lang="en-US" sz="2000" b="1" dirty="0">
              <a:latin typeface="Aptos" panose="020B0004020202020204" pitchFamily="34" charset="0"/>
            </a:endParaRPr>
          </a:p>
          <a:p>
            <a:r>
              <a:rPr lang="en-US" sz="2000" b="1" dirty="0" err="1">
                <a:latin typeface="Aptos" panose="020B0004020202020204" pitchFamily="34" charset="0"/>
              </a:rPr>
              <a:t>Goal:Understanding</a:t>
            </a:r>
            <a:r>
              <a:rPr lang="en-US" sz="2000" b="1" dirty="0">
                <a:latin typeface="Aptos" panose="020B0004020202020204" pitchFamily="34" charset="0"/>
              </a:rPr>
              <a:t> shared molecular mechanisms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4347AE7-D6A2-42FB-3D58-6297742FC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26372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5D330F-07FC-EC3A-5580-7F310277CF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DA06E-B0F4-0324-1753-AFA85FAB7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5669" y="113097"/>
            <a:ext cx="7420819" cy="1656304"/>
          </a:xfrm>
        </p:spPr>
        <p:txBody>
          <a:bodyPr/>
          <a:lstStyle/>
          <a:p>
            <a:r>
              <a:rPr lang="en-US" sz="6000" b="1" dirty="0"/>
              <a:t>Objectives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132694-D4BC-8ABA-DBEC-B775661E8334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3305669" y="2470150"/>
            <a:ext cx="7420819" cy="3676649"/>
          </a:xfrm>
        </p:spPr>
        <p:txBody>
          <a:bodyPr/>
          <a:lstStyle/>
          <a:p>
            <a:r>
              <a:rPr lang="en-US" sz="2000" b="1" dirty="0">
                <a:latin typeface="Aptos" panose="020B0004020202020204" pitchFamily="34" charset="0"/>
              </a:rPr>
              <a:t>Project Aims:	</a:t>
            </a:r>
          </a:p>
          <a:p>
            <a:r>
              <a:rPr lang="en-US" sz="2000" b="1" dirty="0">
                <a:latin typeface="Aptos" panose="020B0004020202020204" pitchFamily="34" charset="0"/>
              </a:rPr>
              <a:t>Identify shared differentially expressed genes (DEGs)	</a:t>
            </a:r>
          </a:p>
          <a:p>
            <a:r>
              <a:rPr lang="en-US" sz="2000" b="1" dirty="0">
                <a:latin typeface="Aptos" panose="020B0004020202020204" pitchFamily="34" charset="0"/>
              </a:rPr>
              <a:t>Analyze common biological pathways	</a:t>
            </a:r>
          </a:p>
          <a:p>
            <a:r>
              <a:rPr lang="en-US" sz="2000" b="1" dirty="0">
                <a:latin typeface="Aptos" panose="020B0004020202020204" pitchFamily="34" charset="0"/>
              </a:rPr>
              <a:t>Understand long-term neurological effects of COVID-19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E1F5433-2CF9-4330-FF4E-5D05C9B30B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72489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FEDDA3-E135-2EC4-2B0B-A8033838D1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FD296A-26E7-8AD5-0D3A-BD3D8A422B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1680" y="430482"/>
            <a:ext cx="10500989" cy="1327464"/>
          </a:xfrm>
        </p:spPr>
        <p:txBody>
          <a:bodyPr/>
          <a:lstStyle/>
          <a:p>
            <a:r>
              <a:rPr lang="en-US" sz="4800" b="1" dirty="0"/>
              <a:t>Data 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8F1D89-8F4D-CCBD-7088-472222F6C2F6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807038" y="2465539"/>
            <a:ext cx="7792213" cy="3723753"/>
          </a:xfrm>
        </p:spPr>
        <p:txBody>
          <a:bodyPr/>
          <a:lstStyle/>
          <a:p>
            <a:pPr marL="0" indent="0">
              <a:buNone/>
            </a:pPr>
            <a:r>
              <a:rPr lang="en-US" sz="2000" b="1" dirty="0"/>
              <a:t>Datasets Used:	</a:t>
            </a:r>
          </a:p>
          <a:p>
            <a:pPr marL="0" indent="0">
              <a:buNone/>
            </a:pPr>
            <a:r>
              <a:rPr lang="en-US" sz="2000" b="1" dirty="0"/>
              <a:t>• COVID-19: GSE164332</a:t>
            </a:r>
          </a:p>
          <a:p>
            <a:pPr marL="0" indent="0">
              <a:buNone/>
            </a:pPr>
            <a:r>
              <a:rPr lang="en-US" sz="2000" b="1" dirty="0"/>
              <a:t>• Alzheimer’s disease: GSE122063	</a:t>
            </a:r>
          </a:p>
          <a:p>
            <a:pPr marL="0" indent="0">
              <a:buNone/>
            </a:pPr>
            <a:r>
              <a:rPr lang="en-US" sz="2000" b="1" dirty="0"/>
              <a:t>• Source: GEO Database</a:t>
            </a:r>
          </a:p>
          <a:p>
            <a:endParaRPr lang="en-US" sz="2000" b="1" dirty="0"/>
          </a:p>
          <a:p>
            <a:pPr marL="0" indent="0">
              <a:buNone/>
            </a:pPr>
            <a:r>
              <a:rPr lang="en-US" sz="2000" b="1" dirty="0"/>
              <a:t>Data Type: RNA sequencing (RNA-seq)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BC989E-B615-D7F3-0AF9-2B0CB9AABA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45545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883E06-8BEA-1DD3-D0D6-391C08880E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1680" y="430482"/>
            <a:ext cx="10500989" cy="1327464"/>
          </a:xfrm>
        </p:spPr>
        <p:txBody>
          <a:bodyPr/>
          <a:lstStyle/>
          <a:p>
            <a:r>
              <a:rPr lang="en-US" sz="4400" b="1" dirty="0"/>
              <a:t>Methodology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F175D3-F3DC-695F-474B-346EDCA5D60F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807038" y="2465539"/>
            <a:ext cx="7685209" cy="2437201"/>
          </a:xfrm>
        </p:spPr>
        <p:txBody>
          <a:bodyPr/>
          <a:lstStyle/>
          <a:p>
            <a:pPr marL="0" indent="0">
              <a:buNone/>
            </a:pPr>
            <a:r>
              <a:rPr lang="en-US" sz="2000" b="1" dirty="0"/>
              <a:t>Workflow:</a:t>
            </a:r>
          </a:p>
          <a:p>
            <a:r>
              <a:rPr lang="en-US" sz="2000" b="1" dirty="0"/>
              <a:t>Differential gene expression analysis	</a:t>
            </a:r>
          </a:p>
          <a:p>
            <a:r>
              <a:rPr lang="en-US" sz="2000" b="1" dirty="0"/>
              <a:t>Data integration	</a:t>
            </a:r>
          </a:p>
          <a:p>
            <a:r>
              <a:rPr lang="en-US" sz="2000" b="1" dirty="0"/>
              <a:t>Data visualization	</a:t>
            </a:r>
          </a:p>
          <a:p>
            <a:r>
              <a:rPr lang="en-US" sz="2000" b="1" dirty="0"/>
              <a:t>GSEA and pathway analysis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7B8B6A-2B28-5C38-80E7-0EBE705FF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80596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8336A-3CB3-A8E3-A8B0-61819F90A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C5008D-9624-F919-9F96-58507245D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5669" y="113097"/>
            <a:ext cx="7420819" cy="1656304"/>
          </a:xfrm>
        </p:spPr>
        <p:txBody>
          <a:bodyPr/>
          <a:lstStyle/>
          <a:p>
            <a:r>
              <a:rPr lang="en-US" sz="4400" b="1" dirty="0"/>
              <a:t>Differential Expression Analysis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7145AB-87CE-31A1-912E-0D8E6CF979CF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3305669" y="2470150"/>
            <a:ext cx="7420819" cy="3676649"/>
          </a:xfrm>
        </p:spPr>
        <p:txBody>
          <a:bodyPr/>
          <a:lstStyle/>
          <a:p>
            <a:pPr marL="0" indent="0">
              <a:buNone/>
            </a:pPr>
            <a:r>
              <a:rPr lang="en-US" sz="2000" b="1" dirty="0">
                <a:latin typeface="Aptos" panose="020B0004020202020204" pitchFamily="34" charset="0"/>
              </a:rPr>
              <a:t>DEG Selection Criteria:</a:t>
            </a:r>
          </a:p>
          <a:p>
            <a:r>
              <a:rPr lang="en-US" sz="2000" b="1" dirty="0">
                <a:latin typeface="Aptos" panose="020B0004020202020204" pitchFamily="34" charset="0"/>
              </a:rPr>
              <a:t>|log2 Fold Change| ≥ 1.1	</a:t>
            </a:r>
          </a:p>
          <a:p>
            <a:r>
              <a:rPr lang="en-US" sz="2000" b="1" dirty="0">
                <a:latin typeface="Aptos" panose="020B0004020202020204" pitchFamily="34" charset="0"/>
              </a:rPr>
              <a:t>Adjusted p-value &lt; 0.05	</a:t>
            </a:r>
          </a:p>
          <a:p>
            <a:r>
              <a:rPr lang="en-US" sz="2000" b="1" dirty="0">
                <a:latin typeface="Aptos" panose="020B0004020202020204" pitchFamily="34" charset="0"/>
              </a:rPr>
              <a:t>Upregulated genes	</a:t>
            </a:r>
          </a:p>
          <a:p>
            <a:r>
              <a:rPr lang="en-US" sz="2000" b="1" dirty="0">
                <a:latin typeface="Aptos" panose="020B0004020202020204" pitchFamily="34" charset="0"/>
              </a:rPr>
              <a:t>Downregulated genes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66C672E-60C6-2FEF-54D1-2DE860F10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4547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DFE71D-2B96-EA10-26B0-C462495A8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5F2403-1705-558A-6A57-D22AA7751A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5669" y="113097"/>
            <a:ext cx="7420819" cy="1656304"/>
          </a:xfrm>
        </p:spPr>
        <p:txBody>
          <a:bodyPr/>
          <a:lstStyle/>
          <a:p>
            <a:r>
              <a:rPr lang="en-US" sz="6000" b="1" dirty="0"/>
              <a:t>Visualization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F29044-B9C4-4FB4-D77C-A720DC176F97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3305669" y="2470150"/>
            <a:ext cx="7420819" cy="3676649"/>
          </a:xfrm>
        </p:spPr>
        <p:txBody>
          <a:bodyPr/>
          <a:lstStyle/>
          <a:p>
            <a:pPr marL="0" indent="0">
              <a:buNone/>
            </a:pPr>
            <a:r>
              <a:rPr lang="en-US" sz="2000" b="1" dirty="0">
                <a:latin typeface="Aptos" panose="020B0004020202020204" pitchFamily="34" charset="0"/>
              </a:rPr>
              <a:t>Plots Used:	</a:t>
            </a:r>
          </a:p>
          <a:p>
            <a:r>
              <a:rPr lang="en-US" sz="2000" b="1" dirty="0">
                <a:latin typeface="Aptos" panose="020B0004020202020204" pitchFamily="34" charset="0"/>
              </a:rPr>
              <a:t>Volcano plot	</a:t>
            </a:r>
          </a:p>
          <a:p>
            <a:r>
              <a:rPr lang="en-US" sz="2000" b="1" dirty="0">
                <a:latin typeface="Aptos" panose="020B0004020202020204" pitchFamily="34" charset="0"/>
              </a:rPr>
              <a:t>Heatmap</a:t>
            </a:r>
          </a:p>
          <a:p>
            <a:pPr marL="0" indent="0">
              <a:buNone/>
            </a:pPr>
            <a:r>
              <a:rPr lang="en-US" sz="2000" b="1" dirty="0">
                <a:latin typeface="Aptos" panose="020B0004020202020204" pitchFamily="34" charset="0"/>
              </a:rPr>
              <a:t>Purpose: </a:t>
            </a:r>
          </a:p>
          <a:p>
            <a:r>
              <a:rPr lang="en-US" sz="2000" b="1" dirty="0">
                <a:latin typeface="Aptos" panose="020B0004020202020204" pitchFamily="34" charset="0"/>
              </a:rPr>
              <a:t>To visualize gene expression patterns and statistical significance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FE96BD8-1FA7-6874-A77F-62208BCF2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en-US" smtClean="0"/>
              <a:pPr/>
              <a:t>7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B004F62-3FBE-8263-34DA-60986F0B57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5008" y="2039964"/>
            <a:ext cx="4741079" cy="27780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97212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A29A4-AAFD-04EE-0732-0671E83D5E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99620" y="162560"/>
            <a:ext cx="8843050" cy="1616904"/>
          </a:xfrm>
        </p:spPr>
        <p:txBody>
          <a:bodyPr/>
          <a:lstStyle/>
          <a:p>
            <a:r>
              <a:rPr lang="en-US" sz="4000" b="1" dirty="0"/>
              <a:t>Key Upregulated Genes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9FEE91-E849-1CB0-9E51-A58B99C631C5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2373001" y="2474812"/>
            <a:ext cx="7558939" cy="2476568"/>
          </a:xfrm>
        </p:spPr>
        <p:txBody>
          <a:bodyPr/>
          <a:lstStyle/>
          <a:p>
            <a:r>
              <a:rPr lang="en-US" sz="2000" b="1" dirty="0"/>
              <a:t>Important Genes:</a:t>
            </a:r>
          </a:p>
          <a:p>
            <a:r>
              <a:rPr lang="en-US" sz="2000" b="1" dirty="0"/>
              <a:t>•  NFE2L1 → oxidative stress response	</a:t>
            </a:r>
          </a:p>
          <a:p>
            <a:r>
              <a:rPr lang="en-US" sz="2000" b="1" dirty="0"/>
              <a:t>•  BACH1 → transcription regulation</a:t>
            </a:r>
          </a:p>
          <a:p>
            <a:r>
              <a:rPr lang="en-US" sz="2000" b="1" dirty="0"/>
              <a:t>•  PDP2 → mitochondrial metabolism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E23533-91C6-420C-B7D7-4977ACF73A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36015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2E2CAA-D5BB-3689-C7E1-172203E4A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91658-934D-E45E-C940-392182353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1680" y="430482"/>
            <a:ext cx="10500989" cy="1327464"/>
          </a:xfrm>
        </p:spPr>
        <p:txBody>
          <a:bodyPr/>
          <a:lstStyle/>
          <a:p>
            <a:r>
              <a:rPr lang="en-US" sz="4400" b="1" dirty="0"/>
              <a:t>Key Downregulated Genes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0BB53C-E484-3BC9-66F0-1A1AFC05B7A5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807038" y="2465539"/>
            <a:ext cx="7685209" cy="2437201"/>
          </a:xfrm>
        </p:spPr>
        <p:txBody>
          <a:bodyPr/>
          <a:lstStyle/>
          <a:p>
            <a:pPr marL="0" indent="0">
              <a:buNone/>
            </a:pPr>
            <a:r>
              <a:rPr lang="en-US" sz="2000" b="1" dirty="0"/>
              <a:t>•  </a:t>
            </a:r>
            <a:r>
              <a:rPr lang="en-US" sz="2400" b="1" dirty="0"/>
              <a:t>PHPT1 → cell signaling	</a:t>
            </a:r>
          </a:p>
          <a:p>
            <a:pPr marL="0" indent="0">
              <a:buNone/>
            </a:pPr>
            <a:r>
              <a:rPr lang="en-US" sz="2400" b="1" dirty="0"/>
              <a:t>•  INTS3 → DNA repair</a:t>
            </a:r>
          </a:p>
          <a:p>
            <a:pPr marL="0" indent="0">
              <a:buNone/>
            </a:pPr>
            <a:r>
              <a:rPr lang="en-US" sz="2400" b="1" dirty="0"/>
              <a:t>Indicates:</a:t>
            </a:r>
          </a:p>
          <a:p>
            <a:pPr marL="0" indent="0">
              <a:buNone/>
            </a:pPr>
            <a:r>
              <a:rPr lang="en-US" sz="2400" b="1" dirty="0"/>
              <a:t>Reduced neuronal protection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DAB3C6-27DE-FEA2-0657-881D75BE4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39326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3EB8B-0AB9-7554-AEEA-E8D744959E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53077" y="325460"/>
            <a:ext cx="5302373" cy="2203704"/>
          </a:xfrm>
        </p:spPr>
        <p:txBody>
          <a:bodyPr/>
          <a:lstStyle/>
          <a:p>
            <a:pPr lvl="0"/>
            <a:r>
              <a:rPr lang="en-US" sz="3600" b="1" dirty="0"/>
              <a:t>Pathway Analysis</a:t>
            </a:r>
            <a:endParaRPr lang="en-US" sz="3600" b="1" noProof="0" dirty="0"/>
          </a:p>
        </p:txBody>
      </p:sp>
      <p:pic>
        <p:nvPicPr>
          <p:cNvPr id="6" name="Picture Placeholder 5" descr="A blue and purple spiral">
            <a:extLst>
              <a:ext uri="{FF2B5EF4-FFF2-40B4-BE49-F238E27FC236}">
                <a16:creationId xmlns:a16="http://schemas.microsoft.com/office/drawing/2014/main" id="{05B64636-376E-96D4-B550-D764B2C6A6A7}"/>
              </a:ext>
            </a:extLst>
          </p:cNvPr>
          <p:cNvPicPr>
            <a:picLocks noGrp="1" noChangeAspect="1"/>
          </p:cNvPicPr>
          <p:nvPr>
            <p:ph type="pic" sz="quarter" idx="37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02" b="202"/>
          <a:stretch/>
        </p:blipFill>
        <p:spPr>
          <a:xfrm>
            <a:off x="336550" y="336550"/>
            <a:ext cx="5303640" cy="6184900"/>
          </a:xfr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2F5F9A-B16D-CA49-7F40-A0142E41DC56}"/>
              </a:ext>
            </a:extLst>
          </p:cNvPr>
          <p:cNvSpPr>
            <a:spLocks noGrp="1"/>
          </p:cNvSpPr>
          <p:nvPr>
            <p:ph sz="quarter" idx="36"/>
          </p:nvPr>
        </p:nvSpPr>
        <p:spPr>
          <a:xfrm>
            <a:off x="6581798" y="2948635"/>
            <a:ext cx="5302373" cy="3642688"/>
          </a:xfrm>
        </p:spPr>
        <p:txBody>
          <a:bodyPr/>
          <a:lstStyle/>
          <a:p>
            <a:r>
              <a:rPr lang="en-US" sz="2000" b="1" dirty="0"/>
              <a:t>Enrichment Analysis (GSEA)	</a:t>
            </a:r>
          </a:p>
          <a:p>
            <a:r>
              <a:rPr lang="en-US" sz="2000" b="1" dirty="0"/>
              <a:t>• KEGG pathways	</a:t>
            </a:r>
          </a:p>
          <a:p>
            <a:r>
              <a:rPr lang="en-US" sz="2000" b="1" dirty="0"/>
              <a:t>• </a:t>
            </a:r>
            <a:r>
              <a:rPr lang="en-US" sz="2000" b="1" dirty="0" err="1"/>
              <a:t>clusterProfiler</a:t>
            </a:r>
            <a:r>
              <a:rPr lang="en-US" sz="2000" b="1" dirty="0"/>
              <a:t>	</a:t>
            </a:r>
          </a:p>
          <a:p>
            <a:r>
              <a:rPr lang="en-US" sz="2000" b="1" dirty="0"/>
              <a:t>• </a:t>
            </a:r>
            <a:r>
              <a:rPr lang="en-US" sz="2000" b="1" dirty="0" err="1"/>
              <a:t>Pathview</a:t>
            </a:r>
            <a:r>
              <a:rPr lang="en-US" sz="2000" b="1" dirty="0"/>
              <a:t> visualization</a:t>
            </a:r>
          </a:p>
          <a:p>
            <a:r>
              <a:rPr lang="en-US" sz="2000" b="1" dirty="0"/>
              <a:t>Purpose:</a:t>
            </a:r>
          </a:p>
          <a:p>
            <a:r>
              <a:rPr lang="en-US" sz="2000" b="1" dirty="0"/>
              <a:t>Understanding biological processes rather than individual genes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1DB868-BEE2-49F7-9AC5-A3B143880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03156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12B33-1A40-1B79-9FE5-3BD186E23D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EB48B8-620C-C4A9-D3E8-46A535E840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53078" y="325460"/>
            <a:ext cx="5752412" cy="2203704"/>
          </a:xfrm>
        </p:spPr>
        <p:txBody>
          <a:bodyPr/>
          <a:lstStyle/>
          <a:p>
            <a:pPr lvl="0"/>
            <a:r>
              <a:rPr lang="en-US" sz="4000" b="1" dirty="0"/>
              <a:t>Upregulated Pathways</a:t>
            </a:r>
            <a:endParaRPr lang="en-US" sz="4000" noProof="0" dirty="0"/>
          </a:p>
        </p:txBody>
      </p:sp>
      <p:pic>
        <p:nvPicPr>
          <p:cNvPr id="6" name="Picture Placeholder 5" descr="A blue and purple spiral">
            <a:extLst>
              <a:ext uri="{FF2B5EF4-FFF2-40B4-BE49-F238E27FC236}">
                <a16:creationId xmlns:a16="http://schemas.microsoft.com/office/drawing/2014/main" id="{21E53688-62C1-9BCE-AD4F-8DE5A534E7FC}"/>
              </a:ext>
            </a:extLst>
          </p:cNvPr>
          <p:cNvPicPr>
            <a:picLocks noGrp="1" noChangeAspect="1"/>
          </p:cNvPicPr>
          <p:nvPr>
            <p:ph type="pic" sz="quarter" idx="37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02" b="202"/>
          <a:stretch/>
        </p:blipFill>
        <p:spPr>
          <a:xfrm>
            <a:off x="336550" y="336550"/>
            <a:ext cx="5303640" cy="6184900"/>
          </a:xfr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35694B-08BA-3422-5DFF-EF3738FA64E1}"/>
              </a:ext>
            </a:extLst>
          </p:cNvPr>
          <p:cNvSpPr>
            <a:spLocks noGrp="1"/>
          </p:cNvSpPr>
          <p:nvPr>
            <p:ph sz="quarter" idx="36"/>
          </p:nvPr>
        </p:nvSpPr>
        <p:spPr>
          <a:xfrm>
            <a:off x="6581798" y="2774692"/>
            <a:ext cx="5302373" cy="4279016"/>
          </a:xfrm>
        </p:spPr>
        <p:txBody>
          <a:bodyPr/>
          <a:lstStyle/>
          <a:p>
            <a:r>
              <a:rPr lang="en-US" sz="2000" b="1" dirty="0"/>
              <a:t>• Endocytosis	</a:t>
            </a:r>
          </a:p>
          <a:p>
            <a:r>
              <a:rPr lang="en-US" sz="2000" b="1" dirty="0"/>
              <a:t>• Hippo signaling	</a:t>
            </a:r>
          </a:p>
          <a:p>
            <a:r>
              <a:rPr lang="en-US" sz="2000" b="1" dirty="0"/>
              <a:t>• Apoptosis</a:t>
            </a:r>
          </a:p>
          <a:p>
            <a:r>
              <a:rPr lang="en-US" sz="2000" b="1" dirty="0"/>
              <a:t>Associated with:	</a:t>
            </a:r>
          </a:p>
          <a:p>
            <a:r>
              <a:rPr lang="en-US" sz="2000" b="1" dirty="0"/>
              <a:t>• Viral entry	</a:t>
            </a:r>
          </a:p>
          <a:p>
            <a:r>
              <a:rPr lang="en-US" sz="2000" b="1" dirty="0"/>
              <a:t>• Cell death	</a:t>
            </a:r>
          </a:p>
          <a:p>
            <a:r>
              <a:rPr lang="en-US" sz="2000" b="1" dirty="0"/>
              <a:t>• Cellular stress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C23B7B-4512-9DAE-12F6-88909AFAE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81416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F8AD9C-FF8D-FF8C-0E68-D8B3C97BC9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3EE7B-2595-DE6A-7E4A-CF693A8D41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1680" y="430482"/>
            <a:ext cx="10500989" cy="1327464"/>
          </a:xfrm>
        </p:spPr>
        <p:txBody>
          <a:bodyPr/>
          <a:lstStyle/>
          <a:p>
            <a:r>
              <a:rPr lang="en-US" sz="4400" b="1" dirty="0"/>
              <a:t>Downregulated Pathways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E714AB-EC3F-D87C-849C-B087AE70C134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807038" y="2465539"/>
            <a:ext cx="7685209" cy="3468333"/>
          </a:xfrm>
        </p:spPr>
        <p:txBody>
          <a:bodyPr/>
          <a:lstStyle/>
          <a:p>
            <a:pPr marL="0" indent="0">
              <a:buNone/>
            </a:pPr>
            <a:r>
              <a:rPr lang="en-US" sz="2000" b="1" dirty="0"/>
              <a:t>• Oxidative phosphorylation	</a:t>
            </a:r>
          </a:p>
          <a:p>
            <a:pPr marL="0" indent="0">
              <a:buNone/>
            </a:pPr>
            <a:r>
              <a:rPr lang="en-US" sz="2000" b="1" dirty="0"/>
              <a:t>• Alzheimer’s disease pathway	</a:t>
            </a:r>
          </a:p>
          <a:p>
            <a:pPr marL="0" indent="0">
              <a:buNone/>
            </a:pPr>
            <a:r>
              <a:rPr lang="en-US" sz="2000" b="1" dirty="0"/>
              <a:t>• Parkinson’s disease and ALS</a:t>
            </a:r>
          </a:p>
          <a:p>
            <a:pPr marL="0" indent="0">
              <a:buNone/>
            </a:pPr>
            <a:endParaRPr lang="en-US" sz="2000" b="1" dirty="0"/>
          </a:p>
          <a:p>
            <a:pPr marL="0" indent="0">
              <a:buNone/>
            </a:pPr>
            <a:r>
              <a:rPr lang="en-US" sz="2000" b="1" dirty="0"/>
              <a:t>Associated with:	</a:t>
            </a:r>
          </a:p>
          <a:p>
            <a:pPr marL="0" indent="0">
              <a:buNone/>
            </a:pPr>
            <a:r>
              <a:rPr lang="en-US" sz="2000" b="1" dirty="0"/>
              <a:t>• Mitochondrial dysfunction	</a:t>
            </a:r>
          </a:p>
          <a:p>
            <a:pPr marL="0" indent="0">
              <a:buNone/>
            </a:pPr>
            <a:r>
              <a:rPr lang="en-US" sz="2000" b="1" dirty="0"/>
              <a:t>• Neurodegeneration</a:t>
            </a:r>
            <a:endParaRPr lang="en-US" sz="2400" b="1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A498C6-D784-17EF-CD35-229F650937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9607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8B569D-D540-F20B-16FF-50CACE34A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51F89F-D08F-36DA-E42F-E99257EE1E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1680" y="430482"/>
            <a:ext cx="10500989" cy="1327464"/>
          </a:xfrm>
        </p:spPr>
        <p:txBody>
          <a:bodyPr/>
          <a:lstStyle/>
          <a:p>
            <a:r>
              <a:rPr lang="en-US" sz="4400" b="1" dirty="0"/>
              <a:t>Biological Interpretation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182349-B363-1D8C-3977-94DA47098BAB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807038" y="2465539"/>
            <a:ext cx="5048251" cy="3468333"/>
          </a:xfrm>
        </p:spPr>
        <p:txBody>
          <a:bodyPr/>
          <a:lstStyle/>
          <a:p>
            <a:pPr marL="0" indent="0">
              <a:buNone/>
            </a:pPr>
            <a:r>
              <a:rPr lang="en-US" sz="2000" b="1" dirty="0"/>
              <a:t>Link Between COVID-19 and Alzheimer’s Disease	</a:t>
            </a:r>
          </a:p>
          <a:p>
            <a:pPr marL="0" indent="0">
              <a:buNone/>
            </a:pPr>
            <a:r>
              <a:rPr lang="en-US" sz="2000" b="1" dirty="0"/>
              <a:t>• Chronic inflammation	</a:t>
            </a:r>
          </a:p>
          <a:p>
            <a:pPr marL="0" indent="0">
              <a:buNone/>
            </a:pPr>
            <a:r>
              <a:rPr lang="en-US" sz="2000" b="1" dirty="0"/>
              <a:t>• Oxidative stress	</a:t>
            </a:r>
          </a:p>
          <a:p>
            <a:pPr marL="0" indent="0">
              <a:buNone/>
            </a:pPr>
            <a:r>
              <a:rPr lang="en-US" sz="2000" b="1" dirty="0"/>
              <a:t>• Mitochondrial failure</a:t>
            </a:r>
          </a:p>
          <a:p>
            <a:pPr marL="0" indent="0">
              <a:buNone/>
            </a:pPr>
            <a:endParaRPr lang="en-US" sz="2000" b="1" dirty="0"/>
          </a:p>
          <a:p>
            <a:pPr marL="0" indent="0">
              <a:buNone/>
            </a:pPr>
            <a:r>
              <a:rPr lang="en-US" sz="2000" b="1" dirty="0"/>
              <a:t>COVID-19 may accelerate neurodegenerative processes</a:t>
            </a:r>
            <a:endParaRPr lang="en-US" sz="2400" b="1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FC3486-0724-564C-84DE-2EB290C87A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4A03345-7CEC-6688-58A5-C18CAEE257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12" y="2247080"/>
            <a:ext cx="5048250" cy="3905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6662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71C402-22A2-6BD4-01E0-5E4923495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9B3EA4-5AAD-031E-97EE-91BE273027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99620" y="162560"/>
            <a:ext cx="8843050" cy="1616904"/>
          </a:xfrm>
        </p:spPr>
        <p:txBody>
          <a:bodyPr/>
          <a:lstStyle/>
          <a:p>
            <a:r>
              <a:rPr lang="en-US" sz="5400" b="1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02F8BC-B466-9449-56EF-4702DF684FCF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2373001" y="2474812"/>
            <a:ext cx="7558939" cy="2476568"/>
          </a:xfrm>
        </p:spPr>
        <p:txBody>
          <a:bodyPr/>
          <a:lstStyle/>
          <a:p>
            <a:r>
              <a:rPr lang="en-US" sz="2400" b="1" dirty="0"/>
              <a:t>• Shared molecular mechanisms were identified</a:t>
            </a:r>
          </a:p>
          <a:p>
            <a:r>
              <a:rPr lang="en-US" sz="2400" b="1" dirty="0"/>
              <a:t>• COVID-19 may have long-term neurological effects	</a:t>
            </a:r>
          </a:p>
          <a:p>
            <a:r>
              <a:rPr lang="en-US" sz="2400" b="1" dirty="0"/>
              <a:t>• Findings support further research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4D5D91-8AF7-4983-273B-9BC2A7F379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17581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D45B69-46A1-1314-18ED-FB23846A8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60F8D7-917D-CF8D-CF33-531B5DB7D4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99620" y="162560"/>
            <a:ext cx="8843050" cy="1616904"/>
          </a:xfrm>
        </p:spPr>
        <p:txBody>
          <a:bodyPr/>
          <a:lstStyle/>
          <a:p>
            <a:r>
              <a:rPr lang="en-US" sz="4000" b="1" dirty="0"/>
              <a:t>Future Directions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EDC23E-787B-EB60-3298-8B2F1B107D6B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2373001" y="2474812"/>
            <a:ext cx="7558939" cy="2476568"/>
          </a:xfrm>
        </p:spPr>
        <p:txBody>
          <a:bodyPr/>
          <a:lstStyle/>
          <a:p>
            <a:r>
              <a:rPr lang="en-US" sz="2800" b="1" dirty="0"/>
              <a:t>• Experimental validation</a:t>
            </a:r>
          </a:p>
          <a:p>
            <a:r>
              <a:rPr lang="en-US" sz="2800" b="1" dirty="0"/>
              <a:t>• Larger datasets</a:t>
            </a:r>
          </a:p>
          <a:p>
            <a:r>
              <a:rPr lang="en-US" sz="2800" b="1" dirty="0"/>
              <a:t>• Potential therapeutic targets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B6147C-0F61-1E39-85D6-C224E5E12E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en-US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00579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78000">
              <a:schemeClr val="accent6">
                <a:lumMod val="50000"/>
              </a:schemeClr>
            </a:gs>
            <a:gs pos="35040">
              <a:srgbClr val="020B11"/>
            </a:gs>
            <a:gs pos="11979">
              <a:schemeClr val="accent4">
                <a:lumMod val="50000"/>
              </a:schemeClr>
            </a:gs>
            <a:gs pos="0">
              <a:schemeClr val="accent4"/>
            </a:gs>
            <a:gs pos="99000">
              <a:schemeClr val="tx2">
                <a:lumMod val="50000"/>
              </a:schemeClr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CE1ABEC8-43FD-4F21-A7D2-70200D8626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5831" y="173735"/>
            <a:ext cx="4409514" cy="2203704"/>
          </a:xfrm>
        </p:spPr>
        <p:txBody>
          <a:bodyPr/>
          <a:lstStyle/>
          <a:p>
            <a:r>
              <a:rPr lang="en-US" sz="4800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395464980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7">
      <a:dk1>
        <a:srgbClr val="000000"/>
      </a:dk1>
      <a:lt1>
        <a:srgbClr val="FFFFFF"/>
      </a:lt1>
      <a:dk2>
        <a:srgbClr val="FC4EFB"/>
      </a:dk2>
      <a:lt2>
        <a:srgbClr val="E7E6E6"/>
      </a:lt2>
      <a:accent1>
        <a:srgbClr val="FAF24C"/>
      </a:accent1>
      <a:accent2>
        <a:srgbClr val="5EFCAC"/>
      </a:accent2>
      <a:accent3>
        <a:srgbClr val="73EBF9"/>
      </a:accent3>
      <a:accent4>
        <a:srgbClr val="316CFC"/>
      </a:accent4>
      <a:accent5>
        <a:srgbClr val="B059FD"/>
      </a:accent5>
      <a:accent6>
        <a:srgbClr val="9405FC"/>
      </a:accent6>
      <a:hlink>
        <a:srgbClr val="FFFFFF"/>
      </a:hlink>
      <a:folHlink>
        <a:srgbClr val="FFFFFF"/>
      </a:folHlink>
    </a:clrScheme>
    <a:fontScheme name="Custom 15">
      <a:majorFont>
        <a:latin typeface="Biome"/>
        <a:ea typeface=""/>
        <a:cs typeface=""/>
      </a:majorFont>
      <a:minorFont>
        <a:latin typeface="Arial Nov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11936837_win32_SL_V11" id="{EAD6EF7B-6F25-4469-AF6A-07D6EB1461DD}" vid="{30FEA78B-2F89-4FF0-8415-E3920802C58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C77B561B-3A65-4A22-9691-EB838E7F9B8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4137456-21FC-4AE2-8A94-BF06CAF2EB9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305301E-11B3-4B9D-A588-21F3C9809371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{312CA427-E942-44A0-B330-844B391A4395}TFe8699e8e-689b-4d7e-abcf-e888fd749829db3118dc_win32-d573b439b56f</Template>
  <TotalTime>73</TotalTime>
  <Words>386</Words>
  <Application>Microsoft Office PowerPoint</Application>
  <PresentationFormat>Widescreen</PresentationFormat>
  <Paragraphs>123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Aptos</vt:lpstr>
      <vt:lpstr>Arial</vt:lpstr>
      <vt:lpstr>Arial Nova</vt:lpstr>
      <vt:lpstr>Biome</vt:lpstr>
      <vt:lpstr>Calibri</vt:lpstr>
      <vt:lpstr>Custom</vt:lpstr>
      <vt:lpstr>Unveiling Shared Molecular Pathways Between COVID-19 and Alzheimer’s Disease</vt:lpstr>
      <vt:lpstr>Background</vt:lpstr>
      <vt:lpstr>Objectives</vt:lpstr>
      <vt:lpstr>Data Sources</vt:lpstr>
      <vt:lpstr>Methodology Overview</vt:lpstr>
      <vt:lpstr>Differential Expression Analysis</vt:lpstr>
      <vt:lpstr>Visualization</vt:lpstr>
      <vt:lpstr>Key Upregulated Genes</vt:lpstr>
      <vt:lpstr>Key Downregulated Genes</vt:lpstr>
      <vt:lpstr>Pathway Analysis</vt:lpstr>
      <vt:lpstr>Upregulated Pathways</vt:lpstr>
      <vt:lpstr>Downregulated Pathways</vt:lpstr>
      <vt:lpstr>Biological Interpretation</vt:lpstr>
      <vt:lpstr>Conclusion</vt:lpstr>
      <vt:lpstr>Future Directions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Malak Reda abdelghani</dc:creator>
  <cp:lastModifiedBy>Malak Reda abdelghani</cp:lastModifiedBy>
  <cp:revision>2</cp:revision>
  <dcterms:created xsi:type="dcterms:W3CDTF">2026-01-17T18:54:02Z</dcterms:created>
  <dcterms:modified xsi:type="dcterms:W3CDTF">2026-01-17T21:40:27Z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